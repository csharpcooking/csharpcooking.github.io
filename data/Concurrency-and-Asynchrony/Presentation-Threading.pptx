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9" r:id="rId1"/>
  </p:sldMasterIdLst>
  <p:notesMasterIdLst>
    <p:notesMasterId r:id="rId25"/>
  </p:notesMasterIdLst>
  <p:sldIdLst>
    <p:sldId id="256" r:id="rId2"/>
    <p:sldId id="257" r:id="rId3"/>
    <p:sldId id="258" r:id="rId4"/>
    <p:sldId id="262" r:id="rId5"/>
    <p:sldId id="263" r:id="rId6"/>
    <p:sldId id="261" r:id="rId7"/>
    <p:sldId id="264" r:id="rId8"/>
    <p:sldId id="265" r:id="rId9"/>
    <p:sldId id="259" r:id="rId10"/>
    <p:sldId id="260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26"/>
      <p:bold r:id="rId27"/>
      <p:italic r:id="rId28"/>
      <p:boldItalic r:id="rId29"/>
    </p:embeddedFont>
    <p:embeddedFont>
      <p:font typeface="Nunito" pitchFamily="2" charset="-52"/>
      <p:regular r:id="rId30"/>
      <p:bold r:id="rId31"/>
      <p:italic r:id="rId32"/>
      <p:boldItalic r:id="rId33"/>
    </p:embeddedFont>
    <p:embeddedFont>
      <p:font typeface="Nunito Medium" panose="020B0604020202020204" charset="-52"/>
      <p:regular r:id="rId34"/>
      <p:bold r:id="rId35"/>
      <p:italic r:id="rId36"/>
      <p:boldItalic r:id="rId37"/>
    </p:embeddedFont>
    <p:embeddedFont>
      <p:font typeface="Nunito SemiBold" pitchFamily="2" charset="-52"/>
      <p:regular r:id="rId38"/>
      <p:bold r:id="rId39"/>
      <p:italic r:id="rId40"/>
      <p:boldItalic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922" y="8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9" Type="http://schemas.openxmlformats.org/officeDocument/2006/relationships/font" Target="fonts/font1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9.fntdata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38" Type="http://schemas.openxmlformats.org/officeDocument/2006/relationships/font" Target="fonts/font1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41" Type="http://schemas.openxmlformats.org/officeDocument/2006/relationships/font" Target="fonts/font1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7.fntdata"/><Relationship Id="rId37" Type="http://schemas.openxmlformats.org/officeDocument/2006/relationships/font" Target="fonts/font12.fntdata"/><Relationship Id="rId40" Type="http://schemas.openxmlformats.org/officeDocument/2006/relationships/font" Target="fonts/font15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36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font" Target="fonts/font10.fntdata"/><Relationship Id="rId43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198b3f30615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198b3f30615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195696477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195696477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195696477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195696477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195696477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195696477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195696477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195696477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195696477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195696477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195696477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195696477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195696477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195696477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195696477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195696477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195696477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195696477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195696477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195696477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6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 rot="10800000">
            <a:off x="5058905" y="0"/>
            <a:ext cx="4085100" cy="20526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20327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" name="Google Shape;14;p2"/>
          <p:cNvGrpSpPr/>
          <p:nvPr/>
        </p:nvGrpSpPr>
        <p:grpSpPr>
          <a:xfrm>
            <a:off x="255200" y="592"/>
            <a:ext cx="2250363" cy="1044300"/>
            <a:chOff x="255200" y="592"/>
            <a:chExt cx="2250363" cy="1044300"/>
          </a:xfrm>
        </p:grpSpPr>
        <p:sp>
          <p:nvSpPr>
            <p:cNvPr id="15" name="Google Shape;15;p2"/>
            <p:cNvSpPr/>
            <p:nvPr/>
          </p:nvSpPr>
          <p:spPr>
            <a:xfrm>
              <a:off x="764063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9632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55200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" name="Google Shape;18;p2"/>
          <p:cNvGrpSpPr/>
          <p:nvPr/>
        </p:nvGrpSpPr>
        <p:grpSpPr>
          <a:xfrm>
            <a:off x="905395" y="592"/>
            <a:ext cx="2250363" cy="1044300"/>
            <a:chOff x="905395" y="592"/>
            <a:chExt cx="2250363" cy="1044300"/>
          </a:xfrm>
        </p:grpSpPr>
        <p:sp>
          <p:nvSpPr>
            <p:cNvPr id="19" name="Google Shape;19;p2"/>
            <p:cNvSpPr/>
            <p:nvPr/>
          </p:nvSpPr>
          <p:spPr>
            <a:xfrm>
              <a:off x="1414258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159826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905395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7057468" y="5088"/>
            <a:ext cx="1851282" cy="752108"/>
            <a:chOff x="6917201" y="0"/>
            <a:chExt cx="2227777" cy="863400"/>
          </a:xfrm>
        </p:grpSpPr>
        <p:sp>
          <p:nvSpPr>
            <p:cNvPr id="23" name="Google Shape;23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" name="Google Shape;26;p2"/>
          <p:cNvGrpSpPr/>
          <p:nvPr/>
        </p:nvGrpSpPr>
        <p:grpSpPr>
          <a:xfrm>
            <a:off x="6553032" y="4217852"/>
            <a:ext cx="2389068" cy="925737"/>
            <a:chOff x="6917201" y="0"/>
            <a:chExt cx="2227777" cy="863400"/>
          </a:xfrm>
        </p:grpSpPr>
        <p:sp>
          <p:nvSpPr>
            <p:cNvPr id="27" name="Google Shape;27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" name="Google Shape;30;p2"/>
          <p:cNvGrpSpPr/>
          <p:nvPr/>
        </p:nvGrpSpPr>
        <p:grpSpPr>
          <a:xfrm>
            <a:off x="199149" y="4055652"/>
            <a:ext cx="2795414" cy="1083308"/>
            <a:chOff x="6917201" y="0"/>
            <a:chExt cx="2227777" cy="863400"/>
          </a:xfrm>
        </p:grpSpPr>
        <p:sp>
          <p:nvSpPr>
            <p:cNvPr id="31" name="Google Shape;31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" name="Google Shape;34;p2"/>
          <p:cNvSpPr txBox="1">
            <a:spLocks noGrp="1"/>
          </p:cNvSpPr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>
            <a:endParaRPr/>
          </a:p>
        </p:txBody>
      </p:sp>
      <p:sp>
        <p:nvSpPr>
          <p:cNvPr id="35" name="Google Shape;35;p2"/>
          <p:cNvSpPr txBox="1">
            <a:spLocks noGrp="1"/>
          </p:cNvSpPr>
          <p:nvPr>
            <p:ph type="subTitle" idx="1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2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/>
          <p:nvPr/>
        </p:nvSpPr>
        <p:spPr>
          <a:xfrm flipH="1">
            <a:off x="4757100" y="2309400"/>
            <a:ext cx="4386900" cy="28341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9" name="Google Shape;39;p3"/>
          <p:cNvGrpSpPr/>
          <p:nvPr/>
        </p:nvGrpSpPr>
        <p:grpSpPr>
          <a:xfrm>
            <a:off x="5594191" y="3961115"/>
            <a:ext cx="2910145" cy="1182340"/>
            <a:chOff x="6917201" y="0"/>
            <a:chExt cx="2227777" cy="863400"/>
          </a:xfrm>
        </p:grpSpPr>
        <p:sp>
          <p:nvSpPr>
            <p:cNvPr id="40" name="Google Shape;40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" name="Google Shape;43;p3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44" name="Google Shape;44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" name="Google Shape;47;p3"/>
          <p:cNvSpPr txBox="1">
            <a:spLocks noGrp="1"/>
          </p:cNvSpPr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3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solidFill>
          <a:schemeClr val="dk2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5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61" name="Google Shape;61;p5"/>
          <p:cNvSpPr txBox="1">
            <a:spLocks noGrp="1"/>
          </p:cNvSpPr>
          <p:nvPr>
            <p:ph type="body" idx="1"/>
          </p:nvPr>
        </p:nvSpPr>
        <p:spPr>
          <a:xfrm>
            <a:off x="819150" y="1990725"/>
            <a:ext cx="3686100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2" name="Google Shape;62;p5"/>
          <p:cNvSpPr txBox="1">
            <a:spLocks noGrp="1"/>
          </p:cNvSpPr>
          <p:nvPr>
            <p:ph type="body" idx="2"/>
          </p:nvPr>
        </p:nvSpPr>
        <p:spPr>
          <a:xfrm>
            <a:off x="4638675" y="1990725"/>
            <a:ext cx="3686100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3" name="Google Shape;63;p5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dk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6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6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6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69" name="Google Shape;69;p6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solidFill>
          <a:schemeClr val="accent3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7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7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3709200" cy="138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75" name="Google Shape;75;p7"/>
          <p:cNvSpPr txBox="1">
            <a:spLocks noGrp="1"/>
          </p:cNvSpPr>
          <p:nvPr>
            <p:ph type="body" idx="1"/>
          </p:nvPr>
        </p:nvSpPr>
        <p:spPr>
          <a:xfrm>
            <a:off x="830700" y="2319050"/>
            <a:ext cx="3709200" cy="211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6" name="Google Shape;76;p7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2823144"/>
            <a:ext cx="7369200" cy="23169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8"/>
          <p:cNvSpPr/>
          <p:nvPr/>
        </p:nvSpPr>
        <p:spPr>
          <a:xfrm flipH="1">
            <a:off x="3583210" y="1554113"/>
            <a:ext cx="5560500" cy="35895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0" name="Google Shape;80;p8"/>
          <p:cNvGrpSpPr/>
          <p:nvPr/>
        </p:nvGrpSpPr>
        <p:grpSpPr>
          <a:xfrm>
            <a:off x="255991" y="-118"/>
            <a:ext cx="2251347" cy="1043408"/>
            <a:chOff x="3961956" y="4383950"/>
            <a:chExt cx="1160548" cy="548700"/>
          </a:xfrm>
        </p:grpSpPr>
        <p:sp>
          <p:nvSpPr>
            <p:cNvPr id="81" name="Google Shape;81;p8"/>
            <p:cNvSpPr/>
            <p:nvPr/>
          </p:nvSpPr>
          <p:spPr>
            <a:xfrm>
              <a:off x="4224904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4093430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961956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4" name="Google Shape;84;p8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" name="Google Shape;85;p8"/>
          <p:cNvGrpSpPr/>
          <p:nvPr/>
        </p:nvGrpSpPr>
        <p:grpSpPr>
          <a:xfrm>
            <a:off x="34934" y="4522125"/>
            <a:ext cx="1593306" cy="617072"/>
            <a:chOff x="6917201" y="0"/>
            <a:chExt cx="2227777" cy="863400"/>
          </a:xfrm>
        </p:grpSpPr>
        <p:sp>
          <p:nvSpPr>
            <p:cNvPr id="86" name="Google Shape;86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9" name="Google Shape;89;p8"/>
          <p:cNvGrpSpPr/>
          <p:nvPr/>
        </p:nvGrpSpPr>
        <p:grpSpPr>
          <a:xfrm>
            <a:off x="5886353" y="1243"/>
            <a:ext cx="3257455" cy="1261514"/>
            <a:chOff x="6917201" y="0"/>
            <a:chExt cx="2227777" cy="863400"/>
          </a:xfrm>
        </p:grpSpPr>
        <p:sp>
          <p:nvSpPr>
            <p:cNvPr id="90" name="Google Shape;90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3" name="Google Shape;93;p8"/>
          <p:cNvSpPr txBox="1">
            <a:spLocks noGrp="1"/>
          </p:cNvSpPr>
          <p:nvPr>
            <p:ph type="title"/>
          </p:nvPr>
        </p:nvSpPr>
        <p:spPr>
          <a:xfrm>
            <a:off x="1393929" y="1301146"/>
            <a:ext cx="6366900" cy="253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94" name="Google Shape;94;p8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solidFill>
          <a:schemeClr val="dk2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9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6424200" cy="70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00" name="Google Shape;100;p9"/>
          <p:cNvSpPr txBox="1">
            <a:spLocks noGrp="1"/>
          </p:cNvSpPr>
          <p:nvPr>
            <p:ph type="subTitle" idx="1"/>
          </p:nvPr>
        </p:nvSpPr>
        <p:spPr>
          <a:xfrm>
            <a:off x="819150" y="1550700"/>
            <a:ext cx="58599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1" name="Google Shape;101;p9"/>
          <p:cNvSpPr txBox="1">
            <a:spLocks noGrp="1"/>
          </p:cNvSpPr>
          <p:nvPr>
            <p:ph type="body" idx="2"/>
          </p:nvPr>
        </p:nvSpPr>
        <p:spPr>
          <a:xfrm>
            <a:off x="819150" y="2467050"/>
            <a:ext cx="5859900" cy="209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02" name="Google Shape;102;p9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bg>
      <p:bgPr>
        <a:solidFill>
          <a:schemeClr val="accent1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0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10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0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10"/>
          <p:cNvSpPr txBox="1">
            <a:spLocks noGrp="1"/>
          </p:cNvSpPr>
          <p:nvPr>
            <p:ph type="body" idx="1"/>
          </p:nvPr>
        </p:nvSpPr>
        <p:spPr>
          <a:xfrm>
            <a:off x="328025" y="4163500"/>
            <a:ext cx="7415100" cy="605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8" name="Google Shape;108;p10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3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1"/>
          <p:cNvSpPr/>
          <p:nvPr/>
        </p:nvSpPr>
        <p:spPr>
          <a:xfrm flipH="1">
            <a:off x="5569200" y="2834075"/>
            <a:ext cx="3574800" cy="23094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" name="Google Shape;111;p11"/>
          <p:cNvGrpSpPr/>
          <p:nvPr/>
        </p:nvGrpSpPr>
        <p:grpSpPr>
          <a:xfrm>
            <a:off x="5959222" y="4119576"/>
            <a:ext cx="2520952" cy="1024165"/>
            <a:chOff x="6917201" y="0"/>
            <a:chExt cx="2227777" cy="863400"/>
          </a:xfrm>
        </p:grpSpPr>
        <p:sp>
          <p:nvSpPr>
            <p:cNvPr id="112" name="Google Shape;112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116" name="Google Shape;116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9" name="Google Shape;119;p11"/>
          <p:cNvSpPr txBox="1">
            <a:spLocks noGrp="1"/>
          </p:cNvSpPr>
          <p:nvPr>
            <p:ph type="title" hasCustomPrompt="1"/>
          </p:nvPr>
        </p:nvSpPr>
        <p:spPr>
          <a:xfrm>
            <a:off x="1385850" y="1383850"/>
            <a:ext cx="6372300" cy="1379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11"/>
          <p:cNvSpPr txBox="1">
            <a:spLocks noGrp="1"/>
          </p:cNvSpPr>
          <p:nvPr>
            <p:ph type="body" idx="1"/>
          </p:nvPr>
        </p:nvSpPr>
        <p:spPr>
          <a:xfrm>
            <a:off x="1385850" y="2863850"/>
            <a:ext cx="6372300" cy="64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ctr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1" name="Google Shape;121;p11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bg>
      <p:bgPr>
        <a:solidFill>
          <a:schemeClr val="dk2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4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4" name="Google Shape;54;p4"/>
          <p:cNvSpPr txBox="1">
            <a:spLocks noGrp="1"/>
          </p:cNvSpPr>
          <p:nvPr>
            <p:ph type="body" idx="1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94118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hift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3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Calibri"/>
              <a:buChar char="●"/>
              <a:defRPr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6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3"/>
          <p:cNvSpPr txBox="1">
            <a:spLocks noGrp="1"/>
          </p:cNvSpPr>
          <p:nvPr>
            <p:ph type="ctrTitle"/>
          </p:nvPr>
        </p:nvSpPr>
        <p:spPr>
          <a:xfrm>
            <a:off x="809400" y="1644200"/>
            <a:ext cx="7525200" cy="157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ru" sz="2700" b="1">
                <a:solidFill>
                  <a:srgbClr val="000000"/>
                </a:solidFill>
              </a:rPr>
              <a:t>ПАРАЛЛЕЛИЗМ И АСИНХРОННОСТЬ В C#</a:t>
            </a:r>
            <a:br>
              <a:rPr lang="ru" sz="2700" b="1">
                <a:solidFill>
                  <a:srgbClr val="000000"/>
                </a:solidFill>
              </a:rPr>
            </a:br>
            <a:r>
              <a:rPr lang="ru" sz="2700" b="1">
                <a:solidFill>
                  <a:srgbClr val="000000"/>
                </a:solidFill>
              </a:rPr>
              <a:t>Тема: </a:t>
            </a:r>
            <a:r>
              <a:rPr lang="ru" sz="2700" b="1" u="sng">
                <a:solidFill>
                  <a:srgbClr val="000000"/>
                </a:solidFill>
              </a:rPr>
              <a:t>Многопоточная обработка</a:t>
            </a:r>
            <a:endParaRPr sz="2700" b="1" i="1" u="sng">
              <a:solidFill>
                <a:srgbClr val="000000"/>
              </a:solidFill>
            </a:endParaRPr>
          </a:p>
        </p:txBody>
      </p:sp>
      <p:sp>
        <p:nvSpPr>
          <p:cNvPr id="129" name="Google Shape;129;p13"/>
          <p:cNvSpPr txBox="1">
            <a:spLocks noGrp="1"/>
          </p:cNvSpPr>
          <p:nvPr>
            <p:ph type="subTitle" idx="1"/>
          </p:nvPr>
        </p:nvSpPr>
        <p:spPr>
          <a:xfrm>
            <a:off x="3663500" y="3012075"/>
            <a:ext cx="45078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900" i="1" dirty="0">
                <a:solidFill>
                  <a:srgbClr val="000000"/>
                </a:solidFill>
                <a:latin typeface="Nunito Medium"/>
                <a:ea typeface="Nunito Medium"/>
                <a:cs typeface="Nunito Medium"/>
                <a:sym typeface="Nunito Medium"/>
              </a:rPr>
              <a:t>Гибадуллин Р.Ф.</a:t>
            </a:r>
            <a:endParaRPr sz="1900" i="1" dirty="0">
              <a:solidFill>
                <a:srgbClr val="000000"/>
              </a:solidFill>
              <a:latin typeface="Nunito Medium"/>
              <a:ea typeface="Nunito Medium"/>
              <a:cs typeface="Nunito Medium"/>
              <a:sym typeface="Nunito Medium"/>
            </a:endParaRPr>
          </a:p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900" i="1" dirty="0">
                <a:solidFill>
                  <a:srgbClr val="000000"/>
                </a:solidFill>
                <a:latin typeface="Nunito Medium"/>
                <a:ea typeface="Nunito Medium"/>
                <a:cs typeface="Nunito Medium"/>
                <a:sym typeface="Nunito Medium"/>
              </a:rPr>
              <a:t>                 </a:t>
            </a:r>
            <a:r>
              <a:rPr lang="ru" sz="1900" dirty="0">
                <a:solidFill>
                  <a:srgbClr val="0000FF"/>
                </a:solidFill>
                <a:latin typeface="Nunito" pitchFamily="2" charset="-52"/>
                <a:ea typeface="Nunito Medium"/>
                <a:cs typeface="Nunito Medium"/>
                <a:sym typeface="Nunito Medium"/>
              </a:rPr>
              <a:t>rfgibadullin@kai.ru</a:t>
            </a:r>
            <a:endParaRPr sz="1900" dirty="0">
              <a:solidFill>
                <a:srgbClr val="0000FF"/>
              </a:solidFill>
              <a:latin typeface="Nunito" pitchFamily="2" charset="-52"/>
              <a:ea typeface="Nunito Medium"/>
              <a:cs typeface="Nunito Medium"/>
              <a:sym typeface="Nunito Medium"/>
            </a:endParaRPr>
          </a:p>
        </p:txBody>
      </p:sp>
      <p:pic>
        <p:nvPicPr>
          <p:cNvPr id="130" name="Google Shape;130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23988" y="571625"/>
            <a:ext cx="2296023" cy="95295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3"/>
          <p:cNvSpPr txBox="1"/>
          <p:nvPr/>
        </p:nvSpPr>
        <p:spPr>
          <a:xfrm>
            <a:off x="4143000" y="3902125"/>
            <a:ext cx="41916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latin typeface="Nunito SemiBold"/>
                <a:ea typeface="Nunito SemiBold"/>
                <a:cs typeface="Nunito SemiBold"/>
                <a:sym typeface="Nunito SemiBold"/>
              </a:rPr>
              <a:t>Презентация подготовлена на основе источника:</a:t>
            </a:r>
            <a:endParaRPr sz="1100" i="1">
              <a:latin typeface="Nunito SemiBold"/>
              <a:ea typeface="Nunito SemiBold"/>
              <a:cs typeface="Nunito SemiBold"/>
              <a:sym typeface="Nunito SemiBold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 i="1">
                <a:latin typeface="Nunito SemiBold"/>
                <a:ea typeface="Nunito SemiBold"/>
                <a:cs typeface="Nunito SemiBold"/>
                <a:sym typeface="Nunito SemiBold"/>
              </a:rPr>
              <a:t>Албахари Д. C# 9.0. Справочник. Полное описание языка.: </a:t>
            </a:r>
            <a:br>
              <a:rPr lang="ru" sz="1100" i="1">
                <a:latin typeface="Nunito SemiBold"/>
                <a:ea typeface="Nunito SemiBold"/>
                <a:cs typeface="Nunito SemiBold"/>
                <a:sym typeface="Nunito SemiBold"/>
              </a:rPr>
            </a:br>
            <a:r>
              <a:rPr lang="ru" sz="1100" i="1">
                <a:latin typeface="Nunito SemiBold"/>
                <a:ea typeface="Nunito SemiBold"/>
                <a:cs typeface="Nunito SemiBold"/>
                <a:sym typeface="Nunito SemiBold"/>
              </a:rPr>
              <a:t>Пер. с англ. – СпБ.: ООО «Диалектика», 2021. – С. 627-690. </a:t>
            </a:r>
            <a:br>
              <a:rPr lang="ru" sz="1100" i="1">
                <a:latin typeface="Nunito SemiBold"/>
                <a:ea typeface="Nunito SemiBold"/>
                <a:cs typeface="Nunito SemiBold"/>
                <a:sym typeface="Nunito SemiBold"/>
              </a:rPr>
            </a:br>
            <a:r>
              <a:rPr lang="ru" sz="1100" i="1">
                <a:latin typeface="Nunito SemiBold"/>
                <a:ea typeface="Nunito SemiBold"/>
                <a:cs typeface="Nunito SemiBold"/>
                <a:sym typeface="Nunito SemiBold"/>
              </a:rPr>
              <a:t>(См. главу 14. Параллелизм и асинхронность.)</a:t>
            </a:r>
            <a:endParaRPr sz="1100" i="1">
              <a:latin typeface="Nunito SemiBold"/>
              <a:ea typeface="Nunito SemiBold"/>
              <a:cs typeface="Nunito SemiBold"/>
              <a:sym typeface="Nunito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4"/>
          <p:cNvSpPr txBox="1">
            <a:spLocks noGrp="1"/>
          </p:cNvSpPr>
          <p:nvPr>
            <p:ph type="title"/>
          </p:nvPr>
        </p:nvSpPr>
        <p:spPr>
          <a:xfrm>
            <a:off x="536713" y="285188"/>
            <a:ext cx="8055000" cy="6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algn="ctr"/>
            <a:r>
              <a:rPr lang="ru" sz="2400" b="1" dirty="0">
                <a:solidFill>
                  <a:srgbClr val="000000"/>
                </a:solidFill>
              </a:rPr>
              <a:t>Введение в курс </a:t>
            </a:r>
            <a:r>
              <a:rPr lang="ru-RU" sz="2400" b="1" dirty="0">
                <a:solidFill>
                  <a:srgbClr val="000000"/>
                </a:solidFill>
              </a:rPr>
              <a:t>«Параллелизм и асинхронность»</a:t>
            </a:r>
            <a:endParaRPr sz="2400" b="1" i="1" dirty="0">
              <a:solidFill>
                <a:srgbClr val="000000"/>
              </a:solidFill>
            </a:endParaRPr>
          </a:p>
        </p:txBody>
      </p:sp>
      <p:cxnSp>
        <p:nvCxnSpPr>
          <p:cNvPr id="137" name="Google Shape;137;p14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Google Shape;138;p14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1400" dirty="0">
                <a:solidFill>
                  <a:srgbClr val="000000"/>
                </a:solidFill>
              </a:rPr>
              <a:t>Введение в курс «Параллелизм и асинхронность»</a:t>
            </a:r>
            <a:endParaRPr sz="14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1400" dirty="0">
              <a:solidFill>
                <a:srgbClr val="000000"/>
              </a:solidFill>
            </a:endParaRPr>
          </a:p>
        </p:txBody>
      </p:sp>
      <p:sp>
        <p:nvSpPr>
          <p:cNvPr id="139" name="Google Shape;139;p14"/>
          <p:cNvSpPr txBox="1">
            <a:spLocks noGrp="1"/>
          </p:cNvSpPr>
          <p:nvPr>
            <p:ph type="title"/>
          </p:nvPr>
        </p:nvSpPr>
        <p:spPr>
          <a:xfrm>
            <a:off x="536725" y="843996"/>
            <a:ext cx="8055000" cy="33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Ниже приведены самые распространенные сценарии применения параллелизма.</a:t>
            </a:r>
            <a:endParaRPr sz="1400" dirty="0">
              <a:solidFill>
                <a:srgbClr val="000000"/>
              </a:solidFill>
            </a:endParaRPr>
          </a:p>
          <a:p>
            <a:pPr marL="457200" lvl="0" indent="-35560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r>
              <a:rPr lang="ru" sz="1400" b="1" dirty="0">
                <a:solidFill>
                  <a:srgbClr val="000000"/>
                </a:solidFill>
              </a:rPr>
              <a:t>Написание отзывчивых пользовательских интерфейсов</a:t>
            </a:r>
            <a:r>
              <a:rPr lang="ru" sz="1400" dirty="0">
                <a:solidFill>
                  <a:srgbClr val="000000"/>
                </a:solidFill>
              </a:rPr>
              <a:t> — в приложениях WPF, мобильных и Windows Forms длительные задачи должны запускаться параллельно с кодом UI.</a:t>
            </a:r>
            <a:endParaRPr sz="1400" dirty="0">
              <a:solidFill>
                <a:srgbClr val="000000"/>
              </a:solidFill>
            </a:endParaRPr>
          </a:p>
          <a:p>
            <a:pPr marL="457200" lvl="0" indent="-35560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r>
              <a:rPr lang="ru" sz="1400" b="1" dirty="0">
                <a:solidFill>
                  <a:srgbClr val="000000"/>
                </a:solidFill>
              </a:rPr>
              <a:t>Обеспечение одновременной обработки запросов</a:t>
            </a:r>
            <a:r>
              <a:rPr lang="ru" sz="1400" dirty="0">
                <a:solidFill>
                  <a:srgbClr val="000000"/>
                </a:solidFill>
              </a:rPr>
              <a:t> — клиентские запросы на сервер должны обрабатываться параллельно для масштабируемости. В ASP.NET Core это делается автоматически.</a:t>
            </a:r>
            <a:endParaRPr sz="1400" dirty="0">
              <a:solidFill>
                <a:srgbClr val="000000"/>
              </a:solidFill>
            </a:endParaRPr>
          </a:p>
          <a:p>
            <a:pPr marL="457200" lvl="0" indent="-35560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r>
              <a:rPr lang="ru" sz="1400" b="1" dirty="0">
                <a:solidFill>
                  <a:srgbClr val="000000"/>
                </a:solidFill>
              </a:rPr>
              <a:t>Параллельное программирование</a:t>
            </a:r>
            <a:r>
              <a:rPr lang="ru" sz="1400" dirty="0">
                <a:solidFill>
                  <a:srgbClr val="000000"/>
                </a:solidFill>
              </a:rPr>
              <a:t> — код с интенсивными вычислениями выполняется быстрее на многоядерных компьютерах, если нагрузка распределяется между ядрами.</a:t>
            </a:r>
            <a:endParaRPr sz="1400" dirty="0">
              <a:solidFill>
                <a:srgbClr val="000000"/>
              </a:solidFill>
            </a:endParaRPr>
          </a:p>
          <a:p>
            <a:pPr marL="457200" lvl="0" indent="-35560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r>
              <a:rPr lang="ru" sz="1400" b="1" dirty="0">
                <a:solidFill>
                  <a:srgbClr val="000000"/>
                </a:solidFill>
              </a:rPr>
              <a:t>Упреждающее выполнение</a:t>
            </a:r>
            <a:r>
              <a:rPr lang="ru" sz="1400" dirty="0">
                <a:solidFill>
                  <a:srgbClr val="000000"/>
                </a:solidFill>
              </a:rPr>
              <a:t> — на многоядерных машинах можно улучшить производительность, предсказывая и выполняя действия заранее.</a:t>
            </a:r>
            <a:endParaRPr sz="1400" dirty="0">
              <a:solidFill>
                <a:srgbClr val="000000"/>
              </a:solidFill>
            </a:endParaRPr>
          </a:p>
          <a:p>
            <a:pPr marL="457200" lvl="0" indent="-32385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Общий механизм одновременного выполнения кода называется </a:t>
            </a:r>
            <a:r>
              <a:rPr lang="ru" sz="1400" i="1" dirty="0">
                <a:solidFill>
                  <a:srgbClr val="000000"/>
                </a:solidFill>
              </a:rPr>
              <a:t>многопоточностью</a:t>
            </a:r>
            <a:r>
              <a:rPr lang="ru" sz="1400" dirty="0">
                <a:solidFill>
                  <a:srgbClr val="000000"/>
                </a:solidFill>
              </a:rPr>
              <a:t>. Многопоточность поддерживается CLR и ОС, являясь фундаментальной концепцией параллелизма. Важно понимать основы многопоточной обработки и влияние потоков на </a:t>
            </a:r>
            <a:r>
              <a:rPr lang="ru" sz="1400" i="1" dirty="0">
                <a:solidFill>
                  <a:srgbClr val="000000"/>
                </a:solidFill>
              </a:rPr>
              <a:t>разделяемое состояние</a:t>
            </a:r>
            <a:r>
              <a:rPr lang="ru" sz="1400" dirty="0">
                <a:solidFill>
                  <a:srgbClr val="000000"/>
                </a:solidFill>
              </a:rPr>
              <a:t>.</a:t>
            </a:r>
            <a:endParaRPr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4"/>
          <p:cNvSpPr txBox="1">
            <a:spLocks noGrp="1"/>
          </p:cNvSpPr>
          <p:nvPr>
            <p:ph type="title"/>
          </p:nvPr>
        </p:nvSpPr>
        <p:spPr>
          <a:xfrm>
            <a:off x="528964" y="440171"/>
            <a:ext cx="8055000" cy="6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 dirty="0">
                <a:solidFill>
                  <a:srgbClr val="000000"/>
                </a:solidFill>
              </a:rPr>
              <a:t>Введение</a:t>
            </a:r>
            <a:endParaRPr sz="2400" b="1" i="1" dirty="0">
              <a:solidFill>
                <a:srgbClr val="000000"/>
              </a:solidFill>
            </a:endParaRPr>
          </a:p>
        </p:txBody>
      </p:sp>
      <p:cxnSp>
        <p:nvCxnSpPr>
          <p:cNvPr id="137" name="Google Shape;137;p14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Google Shape;138;p14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Введение</a:t>
            </a:r>
            <a:endParaRPr sz="14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1400" dirty="0">
              <a:solidFill>
                <a:srgbClr val="000000"/>
              </a:solidFill>
            </a:endParaRPr>
          </a:p>
        </p:txBody>
      </p:sp>
      <p:sp>
        <p:nvSpPr>
          <p:cNvPr id="139" name="Google Shape;139;p14"/>
          <p:cNvSpPr txBox="1">
            <a:spLocks noGrp="1"/>
          </p:cNvSpPr>
          <p:nvPr>
            <p:ph type="title"/>
          </p:nvPr>
        </p:nvSpPr>
        <p:spPr>
          <a:xfrm>
            <a:off x="536725" y="1060973"/>
            <a:ext cx="8055000" cy="33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5E20"/>
              </a:buClr>
              <a:buSzPts val="1500"/>
            </a:pPr>
            <a:r>
              <a:rPr lang="ru" sz="1500" b="1" i="1" dirty="0">
                <a:solidFill>
                  <a:srgbClr val="000000"/>
                </a:solidFill>
              </a:rPr>
              <a:t>Поток</a:t>
            </a:r>
            <a:r>
              <a:rPr lang="ru" sz="1500" dirty="0">
                <a:solidFill>
                  <a:srgbClr val="000000"/>
                </a:solidFill>
              </a:rPr>
              <a:t> — это путь выполнения, который может проходить независимо от других таких путей.</a:t>
            </a:r>
          </a:p>
          <a:p>
            <a:pPr marL="0" lvl="0" indent="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Каждый поток запускается внутри процесса ОС, который предоставляет изолированную среду для выполнения программы.</a:t>
            </a:r>
          </a:p>
          <a:p>
            <a:pPr marL="457200" lvl="0" indent="-355600" algn="just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r>
              <a:rPr lang="ru" sz="1400" b="1" dirty="0">
                <a:solidFill>
                  <a:srgbClr val="000000"/>
                </a:solidFill>
              </a:rPr>
              <a:t>Однопоточная программа</a:t>
            </a:r>
            <a:r>
              <a:rPr lang="ru" sz="1400" dirty="0">
                <a:solidFill>
                  <a:srgbClr val="000000"/>
                </a:solidFill>
              </a:rPr>
              <a:t> — внутри изолированной среды процесса функционирует только один поток, поэтому он получает монопольный доступ к среде.</a:t>
            </a:r>
          </a:p>
          <a:p>
            <a:pPr marL="457200" lvl="0" indent="-355600" algn="just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r>
              <a:rPr lang="ru" sz="1400" b="1" dirty="0">
                <a:solidFill>
                  <a:srgbClr val="000000"/>
                </a:solidFill>
              </a:rPr>
              <a:t>Многопоточная программа</a:t>
            </a:r>
            <a:r>
              <a:rPr lang="ru" sz="1400" dirty="0">
                <a:solidFill>
                  <a:srgbClr val="000000"/>
                </a:solidFill>
              </a:rPr>
              <a:t> — внутри единственного процесса запускается множество потоков, разделяя одну и ту же среду выполнения (скажем, память).</a:t>
            </a:r>
          </a:p>
          <a:p>
            <a:pPr marL="0" lvl="0" indent="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Отчасти это одна из причин, почему полезна многопоточность: например, один поток может извлекать данные в фоновом режиме, в то время как другой поток — отображать их по мере поступления. Такие данные называются </a:t>
            </a:r>
            <a:r>
              <a:rPr lang="ru" sz="1400" b="1" i="1" dirty="0">
                <a:solidFill>
                  <a:srgbClr val="000000"/>
                </a:solidFill>
              </a:rPr>
              <a:t>разделяемым состоянием</a:t>
            </a:r>
            <a:r>
              <a:rPr lang="ru" sz="1400" dirty="0">
                <a:solidFill>
                  <a:srgbClr val="000000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4"/>
          <p:cNvSpPr txBox="1">
            <a:spLocks noGrp="1"/>
          </p:cNvSpPr>
          <p:nvPr>
            <p:ph type="title"/>
          </p:nvPr>
        </p:nvSpPr>
        <p:spPr>
          <a:xfrm>
            <a:off x="536713" y="308436"/>
            <a:ext cx="8055000" cy="6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 dirty="0">
                <a:solidFill>
                  <a:srgbClr val="000000"/>
                </a:solidFill>
              </a:rPr>
              <a:t>Создание потока</a:t>
            </a:r>
            <a:endParaRPr sz="2400" b="1" i="1" dirty="0">
              <a:solidFill>
                <a:srgbClr val="000000"/>
              </a:solidFill>
            </a:endParaRPr>
          </a:p>
        </p:txBody>
      </p:sp>
      <p:cxnSp>
        <p:nvCxnSpPr>
          <p:cNvPr id="137" name="Google Shape;137;p14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Google Shape;138;p14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>
                <a:solidFill>
                  <a:srgbClr val="000000"/>
                </a:solidFill>
              </a:rPr>
              <a:t>Многопоточная обработка | Создание потока</a:t>
            </a:r>
            <a:endParaRPr sz="140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1400">
              <a:solidFill>
                <a:srgbClr val="000000"/>
              </a:solidFill>
            </a:endParaRPr>
          </a:p>
        </p:txBody>
      </p:sp>
      <p:sp>
        <p:nvSpPr>
          <p:cNvPr id="139" name="Google Shape;139;p14"/>
          <p:cNvSpPr txBox="1">
            <a:spLocks noGrp="1"/>
          </p:cNvSpPr>
          <p:nvPr>
            <p:ph type="title"/>
          </p:nvPr>
        </p:nvSpPr>
        <p:spPr>
          <a:xfrm>
            <a:off x="490231" y="836247"/>
            <a:ext cx="8055000" cy="33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rgbClr val="000000"/>
                </a:solidFill>
              </a:rPr>
              <a:t>Клиентская программа (консольная, WPF, UWP или Windows Forms) запускается в единственном потоке, который создается автоматически операционной системой (</a:t>
            </a:r>
            <a:r>
              <a:rPr lang="ru" sz="1300" b="1" i="1" dirty="0">
                <a:solidFill>
                  <a:srgbClr val="1B5E20"/>
                </a:solidFill>
              </a:rPr>
              <a:t>главный поток</a:t>
            </a:r>
            <a:r>
              <a:rPr lang="ru" sz="1300" dirty="0">
                <a:solidFill>
                  <a:srgbClr val="000000"/>
                </a:solidFill>
              </a:rPr>
              <a:t>). Здесь он и будет существовать как однопоточное приложение, если только вы не создадите дополнительные потоки (прямо или косвенно).</a:t>
            </a:r>
          </a:p>
          <a:p>
            <a:pPr marL="457200" lvl="0" indent="-35560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Char char="v"/>
            </a:pPr>
            <a:r>
              <a:rPr lang="ru" sz="1300" dirty="0">
                <a:solidFill>
                  <a:srgbClr val="000000"/>
                </a:solidFill>
              </a:rPr>
              <a:t>Создать и запустить новый поток можно за счет создания объекта </a:t>
            </a:r>
            <a:r>
              <a:rPr lang="ru" sz="1300" b="1" dirty="0">
                <a:solidFill>
                  <a:srgbClr val="0D47A1"/>
                </a:solidFill>
              </a:rPr>
              <a:t>Thread</a:t>
            </a:r>
            <a:r>
              <a:rPr lang="ru" sz="1300" dirty="0">
                <a:solidFill>
                  <a:srgbClr val="000000"/>
                </a:solidFill>
              </a:rPr>
              <a:t> и вызова его метода </a:t>
            </a:r>
            <a:r>
              <a:rPr lang="ru" sz="1300" b="1" dirty="0">
                <a:solidFill>
                  <a:srgbClr val="0D47A1"/>
                </a:solidFill>
              </a:rPr>
              <a:t>Start</a:t>
            </a:r>
            <a:r>
              <a:rPr lang="ru" sz="1300" dirty="0">
                <a:solidFill>
                  <a:srgbClr val="000000"/>
                </a:solidFill>
              </a:rPr>
              <a:t>.</a:t>
            </a:r>
          </a:p>
          <a:p>
            <a:pPr marL="457200" lvl="0" indent="-355600" algn="just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Char char="v"/>
            </a:pPr>
            <a:r>
              <a:rPr lang="ru" sz="1300" dirty="0">
                <a:solidFill>
                  <a:srgbClr val="000000"/>
                </a:solidFill>
              </a:rPr>
              <a:t>Простейший конструктор </a:t>
            </a:r>
            <a:r>
              <a:rPr lang="ru" sz="1300" b="1" dirty="0">
                <a:solidFill>
                  <a:srgbClr val="0D47A1"/>
                </a:solidFill>
              </a:rPr>
              <a:t>Thread</a:t>
            </a:r>
            <a:r>
              <a:rPr lang="ru" sz="1300" dirty="0">
                <a:solidFill>
                  <a:srgbClr val="000000"/>
                </a:solidFill>
              </a:rPr>
              <a:t> принимает делегат </a:t>
            </a:r>
            <a:r>
              <a:rPr lang="ru" sz="1300" b="1" dirty="0">
                <a:solidFill>
                  <a:srgbClr val="0D47A1"/>
                </a:solidFill>
              </a:rPr>
              <a:t>ThreadStart</a:t>
            </a:r>
            <a:r>
              <a:rPr lang="ru" sz="1300" dirty="0">
                <a:solidFill>
                  <a:srgbClr val="000000"/>
                </a:solidFill>
              </a:rPr>
              <a:t>: метод без параметров, который указывает, где должно начинаться выполнение.</a:t>
            </a:r>
          </a:p>
          <a:p>
            <a:pPr marL="85725" lvl="0">
              <a:spcBef>
                <a:spcPts val="400"/>
              </a:spcBef>
            </a:pPr>
            <a:r>
              <a:rPr lang="ru" sz="1000" dirty="0">
                <a:solidFill>
                  <a:srgbClr val="008000"/>
                </a:solidFill>
                <a:latin typeface="Consolas"/>
              </a:rPr>
              <a:t>// Начать новый поток, выполняющий WriteY()</a:t>
            </a:r>
            <a:br>
              <a:rPr lang="en-US" sz="1000" dirty="0">
                <a:solidFill>
                  <a:srgbClr val="000000"/>
                </a:solidFill>
                <a:latin typeface="Consolas"/>
              </a:rPr>
            </a:br>
            <a:r>
              <a:rPr lang="en-US" sz="1000" dirty="0">
                <a:solidFill>
                  <a:srgbClr val="2B91AF"/>
                </a:solidFill>
                <a:latin typeface="Consolas"/>
              </a:rPr>
              <a:t>Thread</a:t>
            </a:r>
            <a:r>
              <a:rPr lang="en-US" sz="1000" dirty="0">
                <a:solidFill>
                  <a:srgbClr val="000000"/>
                </a:solidFill>
                <a:latin typeface="Consolas"/>
              </a:rPr>
              <a:t> t = </a:t>
            </a:r>
            <a:r>
              <a:rPr lang="ru" sz="1000" dirty="0">
                <a:solidFill>
                  <a:srgbClr val="0000FF"/>
                </a:solidFill>
                <a:latin typeface="Consolas"/>
              </a:rPr>
              <a:t>new</a:t>
            </a:r>
            <a:r>
              <a:rPr lang="en-US" sz="1000" dirty="0">
                <a:solidFill>
                  <a:srgbClr val="000000"/>
                </a:solidFill>
                <a:latin typeface="Consolas"/>
              </a:rPr>
              <a:t> </a:t>
            </a:r>
            <a:r>
              <a:rPr lang="en-US" sz="1000" dirty="0">
                <a:solidFill>
                  <a:srgbClr val="2B91AF"/>
                </a:solidFill>
                <a:latin typeface="Consolas"/>
              </a:rPr>
              <a:t>Thread</a:t>
            </a:r>
            <a:r>
              <a:rPr lang="en-US" sz="1000" dirty="0">
                <a:solidFill>
                  <a:srgbClr val="000000"/>
                </a:solidFill>
                <a:latin typeface="Consolas"/>
              </a:rPr>
              <a:t>(WriteY);</a:t>
            </a:r>
            <a:endParaRPr lang="ru" sz="1000" dirty="0">
              <a:solidFill>
                <a:srgbClr val="008000"/>
              </a:solidFill>
              <a:latin typeface="Consolas"/>
            </a:endParaRPr>
          </a:p>
          <a:p>
            <a:pPr marL="85725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 dirty="0">
                <a:solidFill>
                  <a:srgbClr val="000000"/>
                </a:solidFill>
                <a:latin typeface="Consolas"/>
              </a:rPr>
              <a:t>t.Start();</a:t>
            </a:r>
          </a:p>
          <a:p>
            <a:pPr marL="85725" lvl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" sz="1000" dirty="0">
                <a:solidFill>
                  <a:srgbClr val="008000"/>
                </a:solidFill>
                <a:latin typeface="Consolas"/>
              </a:rPr>
              <a:t>// Одновременно делать что-то в главном потоке</a:t>
            </a:r>
          </a:p>
          <a:p>
            <a:pPr marL="85725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 dirty="0">
                <a:solidFill>
                  <a:srgbClr val="0000FF"/>
                </a:solidFill>
                <a:latin typeface="Consolas"/>
              </a:rPr>
              <a:t>for</a:t>
            </a:r>
            <a:r>
              <a:rPr lang="ru" sz="1000" dirty="0">
                <a:solidFill>
                  <a:srgbClr val="000000"/>
                </a:solidFill>
                <a:latin typeface="Consolas"/>
              </a:rPr>
              <a:t> (</a:t>
            </a:r>
            <a:r>
              <a:rPr lang="ru" sz="1000" dirty="0">
                <a:solidFill>
                  <a:srgbClr val="0000FF"/>
                </a:solidFill>
                <a:latin typeface="Consolas"/>
              </a:rPr>
              <a:t>int</a:t>
            </a:r>
            <a:r>
              <a:rPr lang="ru" sz="1000" dirty="0">
                <a:solidFill>
                  <a:srgbClr val="000000"/>
                </a:solidFill>
                <a:latin typeface="Consolas"/>
              </a:rPr>
              <a:t> i = 0; i &lt; 1000; i++) </a:t>
            </a:r>
            <a:br>
              <a:rPr lang="ru" sz="1000" dirty="0">
                <a:solidFill>
                  <a:srgbClr val="000000"/>
                </a:solidFill>
                <a:latin typeface="Consolas"/>
              </a:rPr>
            </a:br>
            <a:r>
              <a:rPr lang="en-US" sz="1000" dirty="0">
                <a:solidFill>
                  <a:srgbClr val="000000"/>
                </a:solidFill>
                <a:latin typeface="Consolas"/>
              </a:rPr>
              <a:t>  </a:t>
            </a:r>
            <a:r>
              <a:rPr lang="en-US" sz="1000" dirty="0">
                <a:solidFill>
                  <a:srgbClr val="2B91AF"/>
                </a:solidFill>
                <a:latin typeface="Consolas"/>
              </a:rPr>
              <a:t>Console</a:t>
            </a:r>
            <a:r>
              <a:rPr lang="en-US" sz="1000" dirty="0">
                <a:solidFill>
                  <a:srgbClr val="000000"/>
                </a:solidFill>
                <a:latin typeface="Consolas"/>
              </a:rPr>
              <a:t>.Write(</a:t>
            </a:r>
            <a:r>
              <a:rPr lang="ru" sz="1000" b="1" dirty="0">
                <a:solidFill>
                  <a:srgbClr val="A31515"/>
                </a:solidFill>
                <a:latin typeface="Consolas"/>
              </a:rPr>
              <a:t>"x"</a:t>
            </a:r>
            <a:r>
              <a:rPr lang="ru" sz="1000" dirty="0">
                <a:solidFill>
                  <a:srgbClr val="000000"/>
                </a:solidFill>
                <a:latin typeface="Consolas"/>
              </a:rPr>
              <a:t>);</a:t>
            </a:r>
          </a:p>
          <a:p>
            <a:pPr marL="85725" lvl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" sz="1000" dirty="0">
                <a:solidFill>
                  <a:srgbClr val="0000FF"/>
                </a:solidFill>
                <a:latin typeface="Consolas"/>
              </a:rPr>
              <a:t>void</a:t>
            </a:r>
            <a:r>
              <a:rPr lang="en-US" sz="1000" dirty="0">
                <a:solidFill>
                  <a:srgbClr val="000000"/>
                </a:solidFill>
                <a:latin typeface="Consolas"/>
              </a:rPr>
              <a:t> WriteY() { </a:t>
            </a:r>
            <a:r>
              <a:rPr lang="ru" sz="1000" dirty="0">
                <a:solidFill>
                  <a:srgbClr val="0000FF"/>
                </a:solidFill>
                <a:latin typeface="Consolas"/>
              </a:rPr>
              <a:t>for</a:t>
            </a:r>
            <a:r>
              <a:rPr lang="ru" sz="1000" dirty="0">
                <a:solidFill>
                  <a:srgbClr val="000000"/>
                </a:solidFill>
                <a:latin typeface="Consolas"/>
              </a:rPr>
              <a:t> (</a:t>
            </a:r>
            <a:r>
              <a:rPr lang="ru" sz="1000" dirty="0">
                <a:solidFill>
                  <a:srgbClr val="0000FF"/>
                </a:solidFill>
                <a:latin typeface="Consolas"/>
              </a:rPr>
              <a:t>int</a:t>
            </a:r>
            <a:r>
              <a:rPr lang="ru" sz="1000" dirty="0">
                <a:solidFill>
                  <a:srgbClr val="000000"/>
                </a:solidFill>
                <a:latin typeface="Consolas"/>
              </a:rPr>
              <a:t> i = 0; i &lt; 1000; i++) </a:t>
            </a:r>
            <a:br>
              <a:rPr lang="ru" sz="1000" dirty="0">
                <a:solidFill>
                  <a:srgbClr val="000000"/>
                </a:solidFill>
                <a:latin typeface="Consolas"/>
              </a:rPr>
            </a:br>
            <a:r>
              <a:rPr lang="en-US" sz="1000" dirty="0">
                <a:solidFill>
                  <a:srgbClr val="000000"/>
                </a:solidFill>
                <a:latin typeface="Consolas"/>
              </a:rPr>
              <a:t>  </a:t>
            </a:r>
            <a:r>
              <a:rPr lang="en-US" sz="1000" dirty="0">
                <a:solidFill>
                  <a:srgbClr val="2B91AF"/>
                </a:solidFill>
                <a:latin typeface="Consolas"/>
              </a:rPr>
              <a:t>Console</a:t>
            </a:r>
            <a:r>
              <a:rPr lang="en-US" sz="1000" dirty="0">
                <a:solidFill>
                  <a:srgbClr val="000000"/>
                </a:solidFill>
                <a:latin typeface="Consolas"/>
              </a:rPr>
              <a:t>.Write(</a:t>
            </a:r>
            <a:r>
              <a:rPr lang="ru" sz="1000" b="1" dirty="0">
                <a:solidFill>
                  <a:srgbClr val="A31515"/>
                </a:solidFill>
                <a:latin typeface="Consolas"/>
              </a:rPr>
              <a:t>"y"</a:t>
            </a:r>
            <a:r>
              <a:rPr lang="ru" sz="1000" dirty="0">
                <a:solidFill>
                  <a:srgbClr val="000000"/>
                </a:solidFill>
                <a:latin typeface="Consolas"/>
              </a:rPr>
              <a:t>); }</a:t>
            </a:r>
          </a:p>
          <a:p>
            <a:pPr marL="85725" lvl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000" b="1" dirty="0">
                <a:solidFill>
                  <a:srgbClr val="424242"/>
                </a:solidFill>
              </a:rPr>
              <a:t>Типичный вывод: </a:t>
            </a:r>
            <a:r>
              <a:rPr lang="ru" sz="1000" dirty="0">
                <a:solidFill>
                  <a:srgbClr val="000000"/>
                </a:solidFill>
                <a:latin typeface="Consolas"/>
              </a:rPr>
              <a:t>xxxxxxxyyyyyyyyyyyyyxxx</a:t>
            </a:r>
            <a:br>
              <a:rPr lang="ru" sz="1000" dirty="0">
                <a:solidFill>
                  <a:srgbClr val="000000"/>
                </a:solidFill>
                <a:latin typeface="Consolas"/>
              </a:rPr>
            </a:br>
            <a:r>
              <a:rPr lang="ru" sz="1000" dirty="0">
                <a:solidFill>
                  <a:srgbClr val="000000"/>
                </a:solidFill>
                <a:latin typeface="Consolas"/>
              </a:rPr>
              <a:t>xxxxxxxxxxyyyyyyyyxxxxxxyyyy...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7DF93AE-8C6A-0DA8-0498-9F9E51405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3543" y="2828101"/>
            <a:ext cx="4293033" cy="12824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7" name="Google Shape;137;p14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Google Shape;138;p14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Многопоточная обработка | Создание потока</a:t>
            </a:r>
            <a:endParaRPr sz="14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1400" dirty="0">
              <a:solidFill>
                <a:srgbClr val="000000"/>
              </a:solidFill>
            </a:endParaRPr>
          </a:p>
        </p:txBody>
      </p:sp>
      <p:sp>
        <p:nvSpPr>
          <p:cNvPr id="139" name="Google Shape;139;p14"/>
          <p:cNvSpPr txBox="1">
            <a:spLocks noGrp="1"/>
          </p:cNvSpPr>
          <p:nvPr>
            <p:ph type="title"/>
          </p:nvPr>
        </p:nvSpPr>
        <p:spPr>
          <a:xfrm>
            <a:off x="482481" y="495285"/>
            <a:ext cx="8055000" cy="33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Главный поток создает новый поток </a:t>
            </a:r>
            <a:r>
              <a:rPr lang="ru" sz="1400" b="1" dirty="0">
                <a:solidFill>
                  <a:srgbClr val="0D47A1"/>
                </a:solidFill>
              </a:rPr>
              <a:t>t</a:t>
            </a:r>
            <a:r>
              <a:rPr lang="ru" sz="1400" dirty="0">
                <a:solidFill>
                  <a:srgbClr val="000000"/>
                </a:solidFill>
              </a:rPr>
              <a:t>, в котором запускает метод, многократно выводящий символ "y". В то же самое время главный поток многократно выводит символ "x".</a:t>
            </a:r>
          </a:p>
          <a:p>
            <a:pPr marL="457200" lvl="0" indent="-35560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r>
              <a:rPr lang="ru" sz="1400" b="1" dirty="0">
                <a:solidFill>
                  <a:srgbClr val="000000"/>
                </a:solidFill>
              </a:rPr>
              <a:t>На одноядерном процессоре</a:t>
            </a:r>
            <a:r>
              <a:rPr lang="ru" sz="1400" dirty="0">
                <a:solidFill>
                  <a:srgbClr val="000000"/>
                </a:solidFill>
              </a:rPr>
              <a:t> — ОС выделяет каждому потоку кванты времени (обычно 20 мс. в Windows) для эмуляции параллелизма, что дает повторяющиеся блоки вывода "x" и "y".</a:t>
            </a:r>
          </a:p>
          <a:p>
            <a:pPr marL="457200" lvl="0" indent="-355600" algn="just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r>
              <a:rPr lang="ru" sz="1400" b="1" dirty="0">
                <a:solidFill>
                  <a:srgbClr val="000000"/>
                </a:solidFill>
              </a:rPr>
              <a:t>На многоядерной машине</a:t>
            </a:r>
            <a:r>
              <a:rPr lang="ru" sz="1400" dirty="0">
                <a:solidFill>
                  <a:srgbClr val="000000"/>
                </a:solidFill>
              </a:rPr>
              <a:t> — два потока могут выполняться по-настоящему параллельно (конкурируя с другими активными процессами).</a:t>
            </a:r>
          </a:p>
          <a:p>
            <a:pPr marL="457200" lvl="0" indent="-35560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Говорят, что поток </a:t>
            </a:r>
            <a:r>
              <a:rPr lang="ru" sz="1400" b="1" i="1" dirty="0">
                <a:solidFill>
                  <a:srgbClr val="1B5E20"/>
                </a:solidFill>
              </a:rPr>
              <a:t>вытесняется</a:t>
            </a:r>
            <a:r>
              <a:rPr lang="ru" sz="1400" dirty="0">
                <a:solidFill>
                  <a:srgbClr val="000000"/>
                </a:solidFill>
              </a:rPr>
              <a:t> в точках, где его выполнение пересекается с выполнением кода в другом потоке.</a:t>
            </a:r>
          </a:p>
          <a:p>
            <a:pPr marL="457200" lvl="0" indent="-35560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После запуска свойство </a:t>
            </a:r>
            <a:r>
              <a:rPr lang="ru" sz="1400" b="1" dirty="0">
                <a:solidFill>
                  <a:srgbClr val="0D47A1"/>
                </a:solidFill>
              </a:rPr>
              <a:t>IsAlive</a:t>
            </a:r>
            <a:r>
              <a:rPr lang="ru" sz="1400" dirty="0">
                <a:solidFill>
                  <a:srgbClr val="000000"/>
                </a:solidFill>
              </a:rPr>
              <a:t> потока возвращает </a:t>
            </a:r>
            <a:r>
              <a:rPr lang="ru" sz="1400" b="1" dirty="0">
                <a:solidFill>
                  <a:srgbClr val="0D47A1"/>
                </a:solidFill>
              </a:rPr>
              <a:t>true</a:t>
            </a:r>
            <a:r>
              <a:rPr lang="ru" sz="1400" dirty="0">
                <a:solidFill>
                  <a:srgbClr val="000000"/>
                </a:solidFill>
              </a:rPr>
              <a:t> до тех пор, пока не будет достигнута точка завершения. После завершения поток не может быть запущен повторно.</a:t>
            </a:r>
          </a:p>
          <a:p>
            <a:pPr marL="457200" lvl="0" indent="-35560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Каждый поток имеет свойство </a:t>
            </a:r>
            <a:r>
              <a:rPr lang="ru" sz="1400" b="1" dirty="0">
                <a:solidFill>
                  <a:srgbClr val="0D47A1"/>
                </a:solidFill>
              </a:rPr>
              <a:t>Name</a:t>
            </a:r>
            <a:r>
              <a:rPr lang="ru" sz="1400" dirty="0">
                <a:solidFill>
                  <a:srgbClr val="000000"/>
                </a:solidFill>
              </a:rPr>
              <a:t> для содействия отладке. Установить имя потока можно только один раз.</a:t>
            </a:r>
          </a:p>
          <a:p>
            <a:pPr marL="457200" lvl="0" indent="-35560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Статическое свойство </a:t>
            </a:r>
            <a:r>
              <a:rPr lang="ru" sz="1400" b="1" dirty="0">
                <a:solidFill>
                  <a:srgbClr val="0D47A1"/>
                </a:solidFill>
              </a:rPr>
              <a:t>Thread.CurrentThread</a:t>
            </a:r>
            <a:r>
              <a:rPr lang="ru" sz="1400" dirty="0">
                <a:solidFill>
                  <a:srgbClr val="000000"/>
                </a:solidFill>
              </a:rPr>
              <a:t> возвращает поток, выполняющийся в текущее время.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4"/>
          <p:cNvSpPr txBox="1">
            <a:spLocks noGrp="1"/>
          </p:cNvSpPr>
          <p:nvPr>
            <p:ph type="title"/>
          </p:nvPr>
        </p:nvSpPr>
        <p:spPr>
          <a:xfrm>
            <a:off x="536713" y="323934"/>
            <a:ext cx="8055000" cy="6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 dirty="0">
                <a:solidFill>
                  <a:srgbClr val="000000"/>
                </a:solidFill>
              </a:rPr>
              <a:t>Join и Sleep</a:t>
            </a:r>
            <a:endParaRPr sz="2400" b="1" i="1" dirty="0">
              <a:solidFill>
                <a:srgbClr val="000000"/>
              </a:solidFill>
            </a:endParaRPr>
          </a:p>
        </p:txBody>
      </p:sp>
      <p:cxnSp>
        <p:nvCxnSpPr>
          <p:cNvPr id="137" name="Google Shape;137;p14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Google Shape;138;p14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>
                <a:solidFill>
                  <a:srgbClr val="000000"/>
                </a:solidFill>
              </a:rPr>
              <a:t>Многопоточная обработка | Join и Sleep</a:t>
            </a:r>
            <a:endParaRPr sz="140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1400">
              <a:solidFill>
                <a:srgbClr val="000000"/>
              </a:solidFill>
            </a:endParaRPr>
          </a:p>
        </p:txBody>
      </p:sp>
      <p:sp>
        <p:nvSpPr>
          <p:cNvPr id="139" name="Google Shape;139;p14"/>
          <p:cNvSpPr txBox="1">
            <a:spLocks noGrp="1"/>
          </p:cNvSpPr>
          <p:nvPr>
            <p:ph type="title"/>
          </p:nvPr>
        </p:nvSpPr>
        <p:spPr>
          <a:xfrm>
            <a:off x="497980" y="874993"/>
            <a:ext cx="8055000" cy="33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С помощью вызова метода </a:t>
            </a:r>
            <a:r>
              <a:rPr lang="ru" sz="1400" b="1" dirty="0">
                <a:solidFill>
                  <a:srgbClr val="0D47A1"/>
                </a:solidFill>
              </a:rPr>
              <a:t>Join</a:t>
            </a:r>
            <a:r>
              <a:rPr lang="ru" sz="1400" dirty="0">
                <a:solidFill>
                  <a:srgbClr val="000000"/>
                </a:solidFill>
              </a:rPr>
              <a:t> можно организовать ожидание окончания другого потока:</a:t>
            </a:r>
          </a:p>
          <a:p>
            <a:pPr lvl="0" algn="just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t =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(Go);  t.Start();  t.Join();</a:t>
            </a:r>
          </a:p>
          <a:p>
            <a:pPr marL="457200" lvl="0" indent="-355600" algn="just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При вызове </a:t>
            </a:r>
            <a:r>
              <a:rPr lang="ru" sz="1400" b="1" dirty="0">
                <a:solidFill>
                  <a:srgbClr val="0D47A1"/>
                </a:solidFill>
              </a:rPr>
              <a:t>Join</a:t>
            </a:r>
            <a:r>
              <a:rPr lang="ru" sz="1400" dirty="0">
                <a:solidFill>
                  <a:srgbClr val="000000"/>
                </a:solidFill>
              </a:rPr>
              <a:t> можно указывать тайм-аут в миллисекундах или в виде </a:t>
            </a:r>
            <a:r>
              <a:rPr lang="ru" sz="1400" b="1" dirty="0">
                <a:solidFill>
                  <a:srgbClr val="0D47A1"/>
                </a:solidFill>
              </a:rPr>
              <a:t>TimeSpan</a:t>
            </a:r>
            <a:r>
              <a:rPr lang="ru" sz="1400" dirty="0">
                <a:solidFill>
                  <a:srgbClr val="000000"/>
                </a:solidFill>
              </a:rPr>
              <a:t>. Метод возвращает </a:t>
            </a:r>
            <a:r>
              <a:rPr lang="ru" sz="1400" b="1" dirty="0">
                <a:solidFill>
                  <a:srgbClr val="0D47A1"/>
                </a:solidFill>
              </a:rPr>
              <a:t>true</a:t>
            </a:r>
            <a:r>
              <a:rPr lang="ru" sz="1400" dirty="0">
                <a:solidFill>
                  <a:srgbClr val="000000"/>
                </a:solidFill>
              </a:rPr>
              <a:t>, если поток завершен, или </a:t>
            </a:r>
            <a:r>
              <a:rPr lang="ru" sz="1400" b="1" dirty="0">
                <a:solidFill>
                  <a:srgbClr val="0D47A1"/>
                </a:solidFill>
              </a:rPr>
              <a:t>false</a:t>
            </a:r>
            <a:r>
              <a:rPr lang="ru" sz="1400" dirty="0">
                <a:solidFill>
                  <a:srgbClr val="000000"/>
                </a:solidFill>
              </a:rPr>
              <a:t>, если истекло время тайм-аута.</a:t>
            </a:r>
          </a:p>
          <a:p>
            <a:pPr marL="457200" lvl="0" indent="-35560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Метод </a:t>
            </a:r>
            <a:r>
              <a:rPr lang="ru" sz="1400" b="1" dirty="0">
                <a:solidFill>
                  <a:srgbClr val="0D47A1"/>
                </a:solidFill>
              </a:rPr>
              <a:t>Thread.Sleep</a:t>
            </a:r>
            <a:r>
              <a:rPr lang="ru" sz="1400" dirty="0">
                <a:solidFill>
                  <a:srgbClr val="000000"/>
                </a:solidFill>
              </a:rPr>
              <a:t> приостанавливает текущий поток на заданный период:</a:t>
            </a:r>
          </a:p>
          <a:p>
            <a:pPr lvl="0" indent="449263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.Sleep(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TimeSpan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.FromHours(</a:t>
            </a:r>
            <a:r>
              <a:rPr lang="en-US" sz="1200" dirty="0">
                <a:solidFill>
                  <a:srgbClr val="09885A"/>
                </a:solidFill>
                <a:latin typeface="Consolas"/>
                <a:cs typeface="Consolas"/>
              </a:rPr>
              <a:t>1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));  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.Sleep(</a:t>
            </a:r>
            <a:r>
              <a:rPr lang="en-US" sz="1200" dirty="0">
                <a:solidFill>
                  <a:srgbClr val="09885A"/>
                </a:solidFill>
                <a:latin typeface="Consolas"/>
                <a:cs typeface="Consolas"/>
              </a:rPr>
              <a:t>500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);</a:t>
            </a:r>
          </a:p>
          <a:p>
            <a:pPr marL="735012" lvl="0" indent="-285750" algn="just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r>
              <a:rPr lang="ru" sz="1400" b="1" dirty="0">
                <a:solidFill>
                  <a:srgbClr val="000000"/>
                </a:solidFill>
              </a:rPr>
              <a:t>Thread.Sleep(0)</a:t>
            </a:r>
            <a:r>
              <a:rPr lang="ru" sz="1400" dirty="0">
                <a:solidFill>
                  <a:srgbClr val="000000"/>
                </a:solidFill>
              </a:rPr>
              <a:t> — немедленно прекращает текущий квант времени потока, добровольно передавая контроль над ЦП другим потокам.</a:t>
            </a:r>
          </a:p>
          <a:p>
            <a:pPr marL="735012" lvl="0" indent="-285750" algn="just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r>
              <a:rPr lang="ru" sz="1400" b="1" dirty="0">
                <a:solidFill>
                  <a:srgbClr val="000000"/>
                </a:solidFill>
              </a:rPr>
              <a:t>Thread.Yield()</a:t>
            </a:r>
            <a:r>
              <a:rPr lang="ru" sz="1400" dirty="0">
                <a:solidFill>
                  <a:srgbClr val="000000"/>
                </a:solidFill>
              </a:rPr>
              <a:t> — делает то же самое, но уступает контроль только потокам на том же самом процессоре.</a:t>
            </a:r>
          </a:p>
          <a:p>
            <a:pPr marL="457200" lvl="0" indent="-355600" algn="just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На время ожидания </a:t>
            </a:r>
            <a:r>
              <a:rPr lang="ru" sz="1400" b="1" dirty="0">
                <a:solidFill>
                  <a:srgbClr val="0D47A1"/>
                </a:solidFill>
              </a:rPr>
              <a:t>Sleep</a:t>
            </a:r>
            <a:r>
              <a:rPr lang="ru" sz="1400" dirty="0">
                <a:solidFill>
                  <a:srgbClr val="000000"/>
                </a:solidFill>
              </a:rPr>
              <a:t> или </a:t>
            </a:r>
            <a:r>
              <a:rPr lang="ru" sz="1400" b="1" dirty="0">
                <a:solidFill>
                  <a:srgbClr val="0D47A1"/>
                </a:solidFill>
              </a:rPr>
              <a:t>Join</a:t>
            </a:r>
            <a:r>
              <a:rPr lang="ru" sz="1400" dirty="0">
                <a:solidFill>
                  <a:srgbClr val="000000"/>
                </a:solidFill>
              </a:rPr>
              <a:t> поток </a:t>
            </a:r>
            <a:r>
              <a:rPr lang="ru" sz="1400" b="1" i="1" dirty="0">
                <a:solidFill>
                  <a:srgbClr val="1B5E20"/>
                </a:solidFill>
              </a:rPr>
              <a:t>блокируется</a:t>
            </a:r>
            <a:r>
              <a:rPr lang="ru" sz="1400" dirty="0">
                <a:solidFill>
                  <a:srgbClr val="000000"/>
                </a:solidFill>
              </a:rPr>
              <a:t> — он немедленно уступает свой квант процессорного времени и далее не потребляет процессорное время, пока удовлетворяется условие блокировки.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"/>
          <p:cNvSpPr txBox="1">
            <a:spLocks noGrp="1"/>
          </p:cNvSpPr>
          <p:nvPr>
            <p:ph type="title"/>
          </p:nvPr>
        </p:nvSpPr>
        <p:spPr>
          <a:xfrm>
            <a:off x="536713" y="354931"/>
            <a:ext cx="8055000" cy="6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 dirty="0">
                <a:solidFill>
                  <a:srgbClr val="000000"/>
                </a:solidFill>
              </a:rPr>
              <a:t>Блокирование</a:t>
            </a:r>
          </a:p>
        </p:txBody>
      </p:sp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>
                <a:solidFill>
                  <a:srgbClr val="000000"/>
                </a:solidFill>
              </a:rPr>
              <a:t>Многопоточная обработка | Блокирование</a:t>
            </a: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521227" y="975732"/>
            <a:ext cx="8055000" cy="292209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Поток считается </a:t>
            </a:r>
            <a:r>
              <a:rPr lang="ru" sz="1400" b="1" i="1" dirty="0">
                <a:solidFill>
                  <a:srgbClr val="1B5E20"/>
                </a:solidFill>
              </a:rPr>
              <a:t>заблокированным</a:t>
            </a:r>
            <a:r>
              <a:rPr lang="ru" sz="1400" dirty="0">
                <a:solidFill>
                  <a:srgbClr val="000000"/>
                </a:solidFill>
              </a:rPr>
              <a:t>, если его выполнение приостановлено по некоторой причине, такой как вызов метода </a:t>
            </a:r>
            <a:r>
              <a:rPr lang="ru" sz="1400" b="1" dirty="0">
                <a:solidFill>
                  <a:srgbClr val="0D47A1"/>
                </a:solidFill>
              </a:rPr>
              <a:t>Sleep</a:t>
            </a:r>
            <a:r>
              <a:rPr lang="ru" sz="1400" dirty="0">
                <a:solidFill>
                  <a:srgbClr val="000000"/>
                </a:solidFill>
              </a:rPr>
              <a:t> или ожидание завершения другого потока через </a:t>
            </a:r>
            <a:r>
              <a:rPr lang="ru" sz="1400" b="1" dirty="0">
                <a:solidFill>
                  <a:srgbClr val="0D47A1"/>
                </a:solidFill>
              </a:rPr>
              <a:t>Join</a:t>
            </a:r>
            <a:r>
              <a:rPr lang="ru" sz="1400" dirty="0">
                <a:solidFill>
                  <a:srgbClr val="000000"/>
                </a:solidFill>
              </a:rPr>
              <a:t>.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Заблокированный поток немедленно </a:t>
            </a:r>
            <a:r>
              <a:rPr lang="ru" sz="1400" i="1" dirty="0">
                <a:solidFill>
                  <a:srgbClr val="000000"/>
                </a:solidFill>
              </a:rPr>
              <a:t>уступает</a:t>
            </a:r>
            <a:r>
              <a:rPr lang="ru" sz="1400" dirty="0">
                <a:solidFill>
                  <a:srgbClr val="000000"/>
                </a:solidFill>
              </a:rPr>
              <a:t> свой квант процессорного времени и далее не потребляет процессорное время, пока удовлетворяется условие блокировки.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Проверить, заблокирован ли поток, можно с помощью свойства </a:t>
            </a:r>
            <a:r>
              <a:rPr lang="ru" sz="1400" b="1" dirty="0">
                <a:solidFill>
                  <a:srgbClr val="0D47A1"/>
                </a:solidFill>
              </a:rPr>
              <a:t>ThreadState</a:t>
            </a:r>
            <a:r>
              <a:rPr lang="ru" sz="1400" dirty="0">
                <a:solidFill>
                  <a:srgbClr val="000000"/>
                </a:solidFill>
              </a:rPr>
              <a:t>:</a:t>
            </a:r>
          </a:p>
          <a:p>
            <a:pPr marL="449263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bool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blocked = (someThread.ThreadState &amp;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ThreadState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.WaitSleepJoin) != </a:t>
            </a:r>
            <a:r>
              <a:rPr lang="en-US" sz="1200" dirty="0">
                <a:solidFill>
                  <a:srgbClr val="09885A"/>
                </a:solidFill>
                <a:latin typeface="Consolas"/>
                <a:cs typeface="Consolas"/>
              </a:rPr>
              <a:t>0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;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Когда поток блокируется или деблокируется, ОС производит </a:t>
            </a:r>
            <a:r>
              <a:rPr lang="ru" sz="1400" i="1" dirty="0">
                <a:solidFill>
                  <a:srgbClr val="000000"/>
                </a:solidFill>
              </a:rPr>
              <a:t>переключение контекста</a:t>
            </a:r>
            <a:r>
              <a:rPr lang="ru" sz="1400" dirty="0">
                <a:solidFill>
                  <a:srgbClr val="000000"/>
                </a:solidFill>
              </a:rPr>
              <a:t>. С ним связаны небольшие накладные расходы, обычно </a:t>
            </a:r>
            <a:r>
              <a:rPr lang="ru" sz="1400" i="1" dirty="0">
                <a:solidFill>
                  <a:srgbClr val="000000"/>
                </a:solidFill>
              </a:rPr>
              <a:t>одна–две микросекунды</a:t>
            </a:r>
            <a:r>
              <a:rPr lang="ru" sz="1400" dirty="0">
                <a:solidFill>
                  <a:srgbClr val="000000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"/>
          <p:cNvSpPr txBox="1">
            <a:spLocks noGrp="1"/>
          </p:cNvSpPr>
          <p:nvPr>
            <p:ph type="title"/>
          </p:nvPr>
        </p:nvSpPr>
        <p:spPr>
          <a:xfrm>
            <a:off x="513465" y="424673"/>
            <a:ext cx="8055000" cy="6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 dirty="0">
                <a:solidFill>
                  <a:srgbClr val="000000"/>
                </a:solidFill>
              </a:rPr>
              <a:t>ThreadState</a:t>
            </a:r>
          </a:p>
        </p:txBody>
      </p:sp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>
                <a:solidFill>
                  <a:srgbClr val="000000"/>
                </a:solidFill>
              </a:rPr>
              <a:t>Многопоточная обработка | ThreadState</a:t>
            </a: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505729" y="998980"/>
            <a:ext cx="8055000" cy="340253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Свойство </a:t>
            </a:r>
            <a:r>
              <a:rPr lang="ru" sz="1400" b="1" dirty="0">
                <a:solidFill>
                  <a:srgbClr val="0D47A1"/>
                </a:solidFill>
              </a:rPr>
              <a:t>ThreadState</a:t>
            </a:r>
            <a:r>
              <a:rPr lang="ru" sz="1400" dirty="0">
                <a:solidFill>
                  <a:srgbClr val="000000"/>
                </a:solidFill>
              </a:rPr>
              <a:t> является перечислением флагов, комбинирующим три «уровня» данных в побитовой манере. Большинство значений избыточны или устаревшие.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Следующий расширяющий метод ограничивает </a:t>
            </a:r>
            <a:r>
              <a:rPr lang="ru" sz="1400" b="1" dirty="0">
                <a:solidFill>
                  <a:srgbClr val="0D47A1"/>
                </a:solidFill>
              </a:rPr>
              <a:t>ThreadState</a:t>
            </a:r>
            <a:r>
              <a:rPr lang="ru" sz="1400" dirty="0">
                <a:solidFill>
                  <a:srgbClr val="000000"/>
                </a:solidFill>
              </a:rPr>
              <a:t> одним из четырех полезных значений: </a:t>
            </a:r>
            <a:r>
              <a:rPr lang="ru" sz="1400" b="1" dirty="0">
                <a:solidFill>
                  <a:srgbClr val="0D47A1"/>
                </a:solidFill>
              </a:rPr>
              <a:t>Unstarted</a:t>
            </a:r>
            <a:r>
              <a:rPr lang="ru" sz="1400" dirty="0">
                <a:solidFill>
                  <a:srgbClr val="000000"/>
                </a:solidFill>
              </a:rPr>
              <a:t>, </a:t>
            </a:r>
            <a:r>
              <a:rPr lang="ru" sz="1400" b="1" dirty="0">
                <a:solidFill>
                  <a:srgbClr val="0D47A1"/>
                </a:solidFill>
              </a:rPr>
              <a:t>Running</a:t>
            </a:r>
            <a:r>
              <a:rPr lang="ru" sz="1400" dirty="0">
                <a:solidFill>
                  <a:srgbClr val="000000"/>
                </a:solidFill>
              </a:rPr>
              <a:t>, </a:t>
            </a:r>
            <a:r>
              <a:rPr lang="ru" sz="1400" b="1" dirty="0">
                <a:solidFill>
                  <a:srgbClr val="0D47A1"/>
                </a:solidFill>
              </a:rPr>
              <a:t>WaitSleepJoin</a:t>
            </a:r>
            <a:r>
              <a:rPr lang="ru" sz="1400" dirty="0">
                <a:solidFill>
                  <a:srgbClr val="000000"/>
                </a:solidFill>
              </a:rPr>
              <a:t> и </a:t>
            </a:r>
            <a:r>
              <a:rPr lang="ru" sz="1400" b="1" dirty="0">
                <a:solidFill>
                  <a:srgbClr val="0D47A1"/>
                </a:solidFill>
              </a:rPr>
              <a:t>Stopped</a:t>
            </a:r>
            <a:r>
              <a:rPr lang="ru" sz="1400" dirty="0">
                <a:solidFill>
                  <a:srgbClr val="000000"/>
                </a:solidFill>
              </a:rPr>
              <a:t>:</a:t>
            </a:r>
          </a:p>
          <a:p>
            <a:pPr marL="449263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static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ThreadState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Simplify (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this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ThreadState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ts)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{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return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ts &amp; (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ThreadState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.Unstarted |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            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ThreadState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.WaitSleepJoin |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            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ThreadState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.Stopped);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Свойство </a:t>
            </a:r>
            <a:r>
              <a:rPr lang="ru" sz="1400" b="1" dirty="0">
                <a:solidFill>
                  <a:srgbClr val="0D47A1"/>
                </a:solidFill>
              </a:rPr>
              <a:t>ThreadState</a:t>
            </a:r>
            <a:r>
              <a:rPr lang="ru" sz="1400" dirty="0">
                <a:solidFill>
                  <a:srgbClr val="000000"/>
                </a:solidFill>
              </a:rPr>
              <a:t> удобно для </a:t>
            </a:r>
            <a:r>
              <a:rPr lang="ru" sz="1400" i="1" dirty="0">
                <a:solidFill>
                  <a:srgbClr val="000000"/>
                </a:solidFill>
              </a:rPr>
              <a:t>диагностических</a:t>
            </a:r>
            <a:r>
              <a:rPr lang="ru" sz="1400" dirty="0">
                <a:solidFill>
                  <a:srgbClr val="000000"/>
                </a:solidFill>
              </a:rPr>
              <a:t> целей, но непригодно для синхронизации, т.к. состояние потока может измениться в промежутке между проверкой </a:t>
            </a:r>
            <a:r>
              <a:rPr lang="ru" sz="1400" b="1" dirty="0">
                <a:solidFill>
                  <a:srgbClr val="0D47A1"/>
                </a:solidFill>
              </a:rPr>
              <a:t>ThreadState</a:t>
            </a:r>
            <a:r>
              <a:rPr lang="ru" sz="1400" dirty="0">
                <a:solidFill>
                  <a:srgbClr val="000000"/>
                </a:solidFill>
              </a:rPr>
              <a:t> и обработкой данной информации.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"/>
          <p:cNvSpPr txBox="1">
            <a:spLocks noGrp="1"/>
          </p:cNvSpPr>
          <p:nvPr>
            <p:ph type="title"/>
          </p:nvPr>
        </p:nvSpPr>
        <p:spPr>
          <a:xfrm>
            <a:off x="157003" y="238693"/>
            <a:ext cx="8824263" cy="6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 dirty="0">
                <a:solidFill>
                  <a:srgbClr val="000000"/>
                </a:solidFill>
              </a:rPr>
              <a:t>Интенсивный ввод-вывод или </a:t>
            </a:r>
            <a:br>
              <a:rPr lang="ru" sz="2400" b="1" dirty="0">
                <a:solidFill>
                  <a:srgbClr val="000000"/>
                </a:solidFill>
              </a:rPr>
            </a:br>
            <a:r>
              <a:rPr lang="ru" sz="2400" b="1" dirty="0">
                <a:solidFill>
                  <a:srgbClr val="000000"/>
                </a:solidFill>
              </a:rPr>
              <a:t>интенсивные вычисления</a:t>
            </a:r>
          </a:p>
        </p:txBody>
      </p:sp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Интенсивный ввод-вывод или интенсивные вычисления</a:t>
            </a:r>
            <a:endParaRPr lang="ru" sz="1400" dirty="0">
              <a:solidFill>
                <a:srgbClr val="000000"/>
              </a:solidFill>
            </a:endParaRP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536726" y="1122966"/>
            <a:ext cx="8055000" cy="312356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Операция с </a:t>
            </a:r>
            <a:r>
              <a:rPr lang="ru" sz="1400" b="1" i="1" dirty="0">
                <a:solidFill>
                  <a:srgbClr val="1B5E20"/>
                </a:solidFill>
              </a:rPr>
              <a:t>интенсивным вводом-выводом</a:t>
            </a:r>
            <a:r>
              <a:rPr lang="ru" sz="1400" dirty="0">
                <a:solidFill>
                  <a:srgbClr val="000000"/>
                </a:solidFill>
              </a:rPr>
              <a:t> (I/O-bound) — большую часть времени тратит на ожидание. Примеры: загрузка веб-страницы, </a:t>
            </a:r>
            <a:r>
              <a:rPr lang="ru" sz="1400" b="1" dirty="0">
                <a:solidFill>
                  <a:srgbClr val="0D47A1"/>
                </a:solidFill>
              </a:rPr>
              <a:t>Console.ReadLine</a:t>
            </a:r>
            <a:r>
              <a:rPr lang="ru" sz="1400" dirty="0">
                <a:solidFill>
                  <a:srgbClr val="000000"/>
                </a:solidFill>
              </a:rPr>
              <a:t>, </a:t>
            </a:r>
            <a:r>
              <a:rPr lang="ru" sz="1400" b="1" dirty="0">
                <a:solidFill>
                  <a:srgbClr val="0D47A1"/>
                </a:solidFill>
              </a:rPr>
              <a:t>Thread.Sleep</a:t>
            </a:r>
            <a:r>
              <a:rPr lang="ru" sz="1400" dirty="0">
                <a:solidFill>
                  <a:srgbClr val="000000"/>
                </a:solidFill>
              </a:rPr>
              <a:t>.</a:t>
            </a:r>
          </a:p>
          <a:p>
            <a:pPr marL="0" lvl="0" indent="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Операция с </a:t>
            </a:r>
            <a:r>
              <a:rPr lang="ru" sz="1400" b="1" i="1" dirty="0">
                <a:solidFill>
                  <a:srgbClr val="1B5E20"/>
                </a:solidFill>
              </a:rPr>
              <a:t>интенсивными вычислениями</a:t>
            </a:r>
            <a:r>
              <a:rPr lang="ru" sz="1400" dirty="0">
                <a:solidFill>
                  <a:srgbClr val="000000"/>
                </a:solidFill>
              </a:rPr>
              <a:t> (CPU-bound) — большую часть времени затрачивает на вычисления с привлечением ЦП.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Операция с интенсивным вводом-выводом работает одним из двух способов:</a:t>
            </a:r>
          </a:p>
          <a:p>
            <a:pPr marL="720725" lvl="0" indent="-271463" algn="just" defTabSz="80645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r>
              <a:rPr lang="ru" sz="1400" b="1" dirty="0">
                <a:solidFill>
                  <a:srgbClr val="000000"/>
                </a:solidFill>
              </a:rPr>
              <a:t>Синхронно</a:t>
            </a:r>
            <a:r>
              <a:rPr lang="ru" sz="1400" dirty="0">
                <a:solidFill>
                  <a:srgbClr val="000000"/>
                </a:solidFill>
              </a:rPr>
              <a:t> ожидает завершения операции в текущем потоке (</a:t>
            </a:r>
            <a:r>
              <a:rPr lang="ru" sz="1400" b="1" dirty="0">
                <a:solidFill>
                  <a:srgbClr val="0D47A1"/>
                </a:solidFill>
              </a:rPr>
              <a:t>Console.ReadLine</a:t>
            </a:r>
            <a:r>
              <a:rPr lang="ru" sz="1400" dirty="0">
                <a:solidFill>
                  <a:srgbClr val="000000"/>
                </a:solidFill>
              </a:rPr>
              <a:t>, </a:t>
            </a:r>
            <a:r>
              <a:rPr lang="ru" sz="1400" b="1" dirty="0">
                <a:solidFill>
                  <a:srgbClr val="0D47A1"/>
                </a:solidFill>
              </a:rPr>
              <a:t>Thread.Sleep</a:t>
            </a:r>
            <a:r>
              <a:rPr lang="ru" sz="1400" dirty="0">
                <a:solidFill>
                  <a:srgbClr val="000000"/>
                </a:solidFill>
              </a:rPr>
              <a:t>, </a:t>
            </a:r>
            <a:r>
              <a:rPr lang="ru" sz="1400" b="1" dirty="0">
                <a:solidFill>
                  <a:srgbClr val="0D47A1"/>
                </a:solidFill>
              </a:rPr>
              <a:t>Thread.Join</a:t>
            </a:r>
            <a:r>
              <a:rPr lang="ru" sz="1400" dirty="0">
                <a:solidFill>
                  <a:srgbClr val="000000"/>
                </a:solidFill>
              </a:rPr>
              <a:t>).</a:t>
            </a:r>
          </a:p>
          <a:p>
            <a:pPr marL="720725" lvl="0" indent="-271463" algn="just" defTabSz="80645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r>
              <a:rPr lang="ru" sz="1400" b="1" dirty="0">
                <a:solidFill>
                  <a:srgbClr val="000000"/>
                </a:solidFill>
              </a:rPr>
              <a:t>Асинхронно</a:t>
            </a:r>
            <a:r>
              <a:rPr lang="ru" sz="1400" dirty="0">
                <a:solidFill>
                  <a:srgbClr val="000000"/>
                </a:solidFill>
              </a:rPr>
              <a:t> — инициирует обратный вызов, когда операция завершается спустя какое-то время.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Синхронные I/O-операции большую часть времени тратят на </a:t>
            </a:r>
            <a:r>
              <a:rPr lang="ru" sz="1400" b="1" i="1" dirty="0">
                <a:solidFill>
                  <a:srgbClr val="1B5E20"/>
                </a:solidFill>
              </a:rPr>
              <a:t>блокирование</a:t>
            </a:r>
            <a:r>
              <a:rPr lang="ru" sz="1400" dirty="0">
                <a:solidFill>
                  <a:srgbClr val="000000"/>
                </a:solidFill>
              </a:rPr>
              <a:t> потока.</a:t>
            </a:r>
            <a:endParaRPr lang="en-US" sz="1200" dirty="0">
              <a:solidFill>
                <a:srgbClr val="000000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"/>
          <p:cNvSpPr txBox="1">
            <a:spLocks noGrp="1"/>
          </p:cNvSpPr>
          <p:nvPr>
            <p:ph type="title"/>
          </p:nvPr>
        </p:nvSpPr>
        <p:spPr>
          <a:xfrm>
            <a:off x="521215" y="393676"/>
            <a:ext cx="8055000" cy="6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 dirty="0">
                <a:solidFill>
                  <a:srgbClr val="000000"/>
                </a:solidFill>
              </a:rPr>
              <a:t>Блокирование или зацикливание</a:t>
            </a:r>
          </a:p>
        </p:txBody>
      </p:sp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Блокирование или зацикливание</a:t>
            </a:r>
            <a:endParaRPr lang="ru" sz="1400" dirty="0">
              <a:solidFill>
                <a:srgbClr val="000000"/>
              </a:solidFill>
            </a:endParaRP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482482" y="1006729"/>
            <a:ext cx="8055000" cy="312356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Альтернатива блокированию — </a:t>
            </a:r>
            <a:r>
              <a:rPr lang="ru" sz="1400" b="1" i="1" dirty="0">
                <a:solidFill>
                  <a:srgbClr val="1B5E20"/>
                </a:solidFill>
              </a:rPr>
              <a:t>зацикливание</a:t>
            </a:r>
            <a:r>
              <a:rPr lang="ru" sz="1400" dirty="0">
                <a:solidFill>
                  <a:srgbClr val="000000"/>
                </a:solidFill>
              </a:rPr>
              <a:t> (spinning) потока: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while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</a:t>
            </a:r>
            <a:r>
              <a:rPr lang="en-US" sz="1200" dirty="0" err="1">
                <a:solidFill>
                  <a:srgbClr val="2B91AF"/>
                </a:solidFill>
                <a:latin typeface="Consolas"/>
                <a:cs typeface="Consolas"/>
              </a:rPr>
              <a:t>DateTime</a:t>
            </a:r>
            <a:r>
              <a:rPr lang="en-US" sz="1200" dirty="0" err="1">
                <a:solidFill>
                  <a:srgbClr val="000000"/>
                </a:solidFill>
                <a:latin typeface="Consolas"/>
                <a:cs typeface="Consolas"/>
              </a:rPr>
              <a:t>.Now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&lt; </a:t>
            </a:r>
            <a:r>
              <a:rPr lang="en-US" sz="1200" dirty="0" err="1">
                <a:solidFill>
                  <a:srgbClr val="000000"/>
                </a:solidFill>
                <a:latin typeface="Consolas"/>
                <a:cs typeface="Consolas"/>
              </a:rPr>
              <a:t>nextStartTime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);  </a:t>
            </a: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// </a:t>
            </a:r>
            <a:r>
              <a:rPr lang="en-US" sz="1200" dirty="0" err="1">
                <a:solidFill>
                  <a:srgbClr val="008000"/>
                </a:solidFill>
                <a:latin typeface="Consolas"/>
                <a:cs typeface="Consolas"/>
              </a:rPr>
              <a:t>зацикливание</a:t>
            </a: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 - </a:t>
            </a:r>
            <a:r>
              <a:rPr lang="en-US" sz="1200" dirty="0" err="1">
                <a:solidFill>
                  <a:srgbClr val="008000"/>
                </a:solidFill>
                <a:latin typeface="Consolas"/>
                <a:cs typeface="Consolas"/>
              </a:rPr>
              <a:t>неэкономно</a:t>
            </a: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!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Это очень неэкономное расходование ЦП: среда CLR и ОС предполагают, что поток выполняет важные вычисления. По сути, код </a:t>
            </a:r>
            <a:r>
              <a:rPr lang="ru" sz="1400" i="1" dirty="0">
                <a:solidFill>
                  <a:srgbClr val="000000"/>
                </a:solidFill>
              </a:rPr>
              <a:t>I/O-bound</a:t>
            </a:r>
            <a:r>
              <a:rPr lang="ru" sz="1400" dirty="0">
                <a:solidFill>
                  <a:srgbClr val="000000"/>
                </a:solidFill>
              </a:rPr>
              <a:t> превращается в </a:t>
            </a:r>
            <a:r>
              <a:rPr lang="ru" sz="1400" i="1" dirty="0">
                <a:solidFill>
                  <a:srgbClr val="000000"/>
                </a:solidFill>
              </a:rPr>
              <a:t>CPU-boun</a:t>
            </a:r>
            <a:r>
              <a:rPr lang="ru" sz="1400" dirty="0">
                <a:solidFill>
                  <a:srgbClr val="000000"/>
                </a:solidFill>
              </a:rPr>
              <a:t>d.</a:t>
            </a:r>
          </a:p>
          <a:p>
            <a:pPr marL="0" lvl="0" indent="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" sz="1400" b="1" dirty="0">
                <a:solidFill>
                  <a:srgbClr val="000000"/>
                </a:solidFill>
              </a:rPr>
              <a:t>Нюансы:</a:t>
            </a:r>
          </a:p>
          <a:p>
            <a:pPr marL="457200" lvl="0" indent="-355600" algn="just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r>
              <a:rPr lang="ru" sz="1400" b="1" dirty="0">
                <a:solidFill>
                  <a:srgbClr val="000000"/>
                </a:solidFill>
              </a:rPr>
              <a:t>Кратковременное зацикливание</a:t>
            </a:r>
            <a:r>
              <a:rPr lang="ru" sz="1400" dirty="0">
                <a:solidFill>
                  <a:srgbClr val="000000"/>
                </a:solidFill>
              </a:rPr>
              <a:t> может быть эффективным, когда условие удовлетворяется за микросекунды — избегает накладных расходов переключения контекста. .NET предлагает </a:t>
            </a:r>
            <a:r>
              <a:rPr lang="ru" sz="1400" b="1" dirty="0">
                <a:solidFill>
                  <a:srgbClr val="0D47A1"/>
                </a:solidFill>
              </a:rPr>
              <a:t>SpinLock</a:t>
            </a:r>
            <a:r>
              <a:rPr lang="ru" sz="1400" dirty="0">
                <a:solidFill>
                  <a:srgbClr val="000000"/>
                </a:solidFill>
              </a:rPr>
              <a:t> и </a:t>
            </a:r>
            <a:r>
              <a:rPr lang="ru" sz="1400" b="1" dirty="0">
                <a:solidFill>
                  <a:srgbClr val="0D47A1"/>
                </a:solidFill>
              </a:rPr>
              <a:t>SpinWait</a:t>
            </a:r>
            <a:r>
              <a:rPr lang="ru" sz="1400" dirty="0">
                <a:solidFill>
                  <a:srgbClr val="000000"/>
                </a:solidFill>
              </a:rPr>
              <a:t>.</a:t>
            </a:r>
          </a:p>
          <a:p>
            <a:pPr marL="457200" lvl="0" indent="-355600" algn="just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r>
              <a:rPr lang="ru" sz="1400" b="1" dirty="0">
                <a:solidFill>
                  <a:srgbClr val="000000"/>
                </a:solidFill>
              </a:rPr>
              <a:t>Затраты на блокирование не нулевые</a:t>
            </a:r>
            <a:r>
              <a:rPr lang="ru" sz="1400" dirty="0">
                <a:solidFill>
                  <a:srgbClr val="000000"/>
                </a:solidFill>
              </a:rPr>
              <a:t>: каждый поток связывает ~1 МБ памяти. Для программ с сотнями параллельных I/O-операций лучше использовать подход на основе обратных вызовов (асинхронные шаблоны).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"/>
          <p:cNvSpPr txBox="1">
            <a:spLocks noGrp="1"/>
          </p:cNvSpPr>
          <p:nvPr>
            <p:ph type="title"/>
          </p:nvPr>
        </p:nvSpPr>
        <p:spPr>
          <a:xfrm>
            <a:off x="536713" y="339433"/>
            <a:ext cx="8055000" cy="6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 dirty="0">
                <a:solidFill>
                  <a:srgbClr val="000000"/>
                </a:solidFill>
              </a:rPr>
              <a:t>Локальное или разделяемое состояние</a:t>
            </a:r>
          </a:p>
        </p:txBody>
      </p:sp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Локальное или разделяемое состояние</a:t>
            </a:r>
            <a:endParaRPr lang="ru" sz="1400" dirty="0">
              <a:solidFill>
                <a:srgbClr val="000000"/>
              </a:solidFill>
            </a:endParaRP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536726" y="975732"/>
            <a:ext cx="8055000" cy="30228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Среда CLR назначает каждому потоку собственный </a:t>
            </a:r>
            <a:r>
              <a:rPr lang="ru" sz="1400" b="1" i="1" dirty="0">
                <a:solidFill>
                  <a:srgbClr val="1B5E20"/>
                </a:solidFill>
              </a:rPr>
              <a:t>стек</a:t>
            </a:r>
            <a:r>
              <a:rPr lang="ru" sz="1400" dirty="0">
                <a:solidFill>
                  <a:srgbClr val="000000"/>
                </a:solidFill>
              </a:rPr>
              <a:t> в памяти, так что локальные переменные хранятся отдельно.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(Go).Start();  </a:t>
            </a: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// Вызвать Go в новом потоке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Go();                     </a:t>
            </a: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// Вызвать Go в главном потоке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Go()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{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// Объявить и использовать локальную переменную cycles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for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cycles = </a:t>
            </a:r>
            <a:r>
              <a:rPr lang="en-US" sz="1200" dirty="0">
                <a:solidFill>
                  <a:srgbClr val="09885A"/>
                </a:solidFill>
                <a:latin typeface="Consolas"/>
                <a:cs typeface="Consolas"/>
              </a:rPr>
              <a:t>0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; cycles &lt; </a:t>
            </a:r>
            <a:r>
              <a:rPr lang="en-US" sz="1200" dirty="0">
                <a:solidFill>
                  <a:srgbClr val="09885A"/>
                </a:solidFill>
                <a:latin typeface="Consolas"/>
                <a:cs typeface="Consolas"/>
              </a:rPr>
              <a:t>5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; cycles++)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.Write (</a:t>
            </a:r>
            <a:r>
              <a:rPr lang="en-US" sz="1200" dirty="0">
                <a:solidFill>
                  <a:srgbClr val="A31515"/>
                </a:solidFill>
                <a:latin typeface="Consolas"/>
                <a:cs typeface="Consolas"/>
              </a:rPr>
              <a:t>'?'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В стеке каждого потока создается отдельная копия переменной </a:t>
            </a:r>
            <a:r>
              <a:rPr lang="ru" sz="1400" b="1" dirty="0">
                <a:solidFill>
                  <a:srgbClr val="0D47A1"/>
                </a:solidFill>
              </a:rPr>
              <a:t>cycles</a:t>
            </a:r>
            <a:r>
              <a:rPr lang="ru" sz="1400" dirty="0">
                <a:solidFill>
                  <a:srgbClr val="000000"/>
                </a:solidFill>
              </a:rPr>
              <a:t>, так что вывод предсказуемо содержит десять знаков вопроса.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Потоки </a:t>
            </a:r>
            <a:r>
              <a:rPr lang="ru" sz="1400" b="1" i="1" dirty="0">
                <a:solidFill>
                  <a:srgbClr val="1B5E20"/>
                </a:solidFill>
              </a:rPr>
              <a:t>разделяют</a:t>
            </a:r>
            <a:r>
              <a:rPr lang="ru" sz="1400" dirty="0">
                <a:solidFill>
                  <a:srgbClr val="000000"/>
                </a:solidFill>
              </a:rPr>
              <a:t> данные, если они имеют общую ссылку на один и тот же экземпляр.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Локальное или разделяемое состояние</a:t>
            </a:r>
            <a:endParaRPr lang="ru" sz="1400" dirty="0">
              <a:solidFill>
                <a:srgbClr val="000000"/>
              </a:solidFill>
            </a:endParaRP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490230" y="448791"/>
            <a:ext cx="8250813" cy="37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Оба потока разделяют переменную </a:t>
            </a:r>
            <a:r>
              <a:rPr lang="ru" sz="1400" b="1" dirty="0">
                <a:solidFill>
                  <a:srgbClr val="0D47A1"/>
                </a:solidFill>
              </a:rPr>
              <a:t>_done</a:t>
            </a:r>
            <a:r>
              <a:rPr lang="ru" sz="1400" dirty="0">
                <a:solidFill>
                  <a:srgbClr val="000000"/>
                </a:solidFill>
              </a:rPr>
              <a:t>, поэтому слово “Done” выводится один раз. Однако двукратный вывод возможен (хотя и маловероятен) — это проблема потокобезопасности: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bool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_done =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false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;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1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(Go).Start();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Go();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Go()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{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if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(!_done) { _done =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true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; </a:t>
            </a:r>
            <a:r>
              <a:rPr lang="en-US" sz="11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.WriteLine (</a:t>
            </a:r>
            <a:r>
              <a:rPr lang="en-US" sz="1100" dirty="0">
                <a:solidFill>
                  <a:srgbClr val="A31515"/>
                </a:solidFill>
                <a:latin typeface="Consolas"/>
                <a:cs typeface="Consolas"/>
              </a:rPr>
              <a:t>"Done"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); }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  <a:p>
            <a:pPr marL="101600" lvl="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</a:pPr>
            <a:r>
              <a:rPr lang="ru" sz="1400" dirty="0">
                <a:solidFill>
                  <a:srgbClr val="000000"/>
                </a:solidFill>
              </a:rPr>
              <a:t>Локальные переменные, </a:t>
            </a:r>
            <a:r>
              <a:rPr lang="ru" sz="1400" i="1" dirty="0">
                <a:solidFill>
                  <a:srgbClr val="000000"/>
                </a:solidFill>
              </a:rPr>
              <a:t>захваченные лямбда-выражением</a:t>
            </a:r>
            <a:r>
              <a:rPr lang="ru" sz="1400" dirty="0">
                <a:solidFill>
                  <a:srgbClr val="000000"/>
                </a:solidFill>
              </a:rPr>
              <a:t>, тоже могут быть разделяемыми: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bool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done =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false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;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2B91AF"/>
                </a:solidFill>
                <a:latin typeface="Consolas"/>
                <a:cs typeface="Consolas"/>
              </a:rPr>
              <a:t>ThreadStart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action = () =&gt;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{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if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(!done) { done =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true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; </a:t>
            </a:r>
            <a:r>
              <a:rPr lang="en-US" sz="11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.WriteLine (</a:t>
            </a:r>
            <a:r>
              <a:rPr lang="en-US" sz="1100" dirty="0">
                <a:solidFill>
                  <a:srgbClr val="A31515"/>
                </a:solidFill>
                <a:latin typeface="Consolas"/>
                <a:cs typeface="Consolas"/>
              </a:rPr>
              <a:t>"Done"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); }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};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1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(action).Start();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action();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7" name="Line"/>
          <p:cNvCxnSpPr/>
          <p:nvPr/>
        </p:nvCxnSpPr>
        <p:spPr>
          <a:xfrm rot="10800000" flipH="1">
            <a:off x="270580" y="4363037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Локальное или разделяемое состояние</a:t>
            </a:r>
            <a:endParaRPr lang="ru" sz="1400" dirty="0">
              <a:solidFill>
                <a:srgbClr val="000000"/>
              </a:solidFill>
            </a:endParaRP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544474" y="394546"/>
            <a:ext cx="8055000" cy="37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</a:pPr>
            <a:r>
              <a:rPr lang="ru" sz="1400" b="1" dirty="0">
                <a:solidFill>
                  <a:srgbClr val="000000"/>
                </a:solidFill>
              </a:rPr>
              <a:t>Поля экземпляра</a:t>
            </a:r>
            <a:r>
              <a:rPr lang="ru" sz="1400" dirty="0">
                <a:solidFill>
                  <a:srgbClr val="000000"/>
                </a:solidFill>
              </a:rPr>
              <a:t> — метод вызывается на одном экземпляре из разных потоков: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var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tt =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100" dirty="0">
                <a:solidFill>
                  <a:srgbClr val="2B91AF"/>
                </a:solidFill>
                <a:latin typeface="Consolas"/>
                <a:cs typeface="Consolas"/>
              </a:rPr>
              <a:t>ThreadTest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();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1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(tt.Go).Start();  tt.Go();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100" dirty="0">
                <a:solidFill>
                  <a:srgbClr val="2B91AF"/>
                </a:solidFill>
                <a:latin typeface="Consolas"/>
                <a:cs typeface="Consolas"/>
              </a:rPr>
              <a:t>ThreadTest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{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bool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_done;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Go() {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  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if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(!_done) { _done =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true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; </a:t>
            </a:r>
            <a:r>
              <a:rPr lang="en-US" sz="11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.WriteLine (</a:t>
            </a:r>
            <a:r>
              <a:rPr lang="en-US" sz="1100" dirty="0">
                <a:solidFill>
                  <a:srgbClr val="A31515"/>
                </a:solidFill>
                <a:latin typeface="Consolas"/>
                <a:cs typeface="Consolas"/>
              </a:rPr>
              <a:t>"Done"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); }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 }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  <a:p>
            <a:pPr lvl="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B5E20"/>
              </a:buClr>
              <a:buSzPts val="1400"/>
            </a:pPr>
            <a:br>
              <a:rPr lang="ru" sz="1400" b="1" dirty="0">
                <a:solidFill>
                  <a:srgbClr val="000000"/>
                </a:solidFill>
              </a:rPr>
            </a:br>
            <a:r>
              <a:rPr lang="ru" sz="1400" b="1" dirty="0">
                <a:solidFill>
                  <a:srgbClr val="000000"/>
                </a:solidFill>
              </a:rPr>
              <a:t>Статические поля</a:t>
            </a:r>
            <a:r>
              <a:rPr lang="ru" sz="1400" dirty="0">
                <a:solidFill>
                  <a:srgbClr val="000000"/>
                </a:solidFill>
              </a:rPr>
              <a:t> — разделяются между всеми потоками в домене приложения: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100" dirty="0">
                <a:solidFill>
                  <a:srgbClr val="2B91AF"/>
                </a:solidFill>
                <a:latin typeface="Consolas"/>
                <a:cs typeface="Consolas"/>
              </a:rPr>
              <a:t>ThreadTest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{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static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bool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_done;  </a:t>
            </a:r>
            <a:r>
              <a:rPr lang="en-US" sz="1100" dirty="0">
                <a:solidFill>
                  <a:srgbClr val="008000"/>
                </a:solidFill>
                <a:latin typeface="Consolas"/>
                <a:cs typeface="Consolas"/>
              </a:rPr>
              <a:t>// разделяется между всеми потоками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static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Main() {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1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(Go).Start(); Go(); }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static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Go() {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  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if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(!_done) { _done =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true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; </a:t>
            </a:r>
            <a:r>
              <a:rPr lang="en-US" sz="11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.WriteLine (</a:t>
            </a:r>
            <a:r>
              <a:rPr lang="en-US" sz="1100" dirty="0">
                <a:solidFill>
                  <a:srgbClr val="A31515"/>
                </a:solidFill>
                <a:latin typeface="Consolas"/>
                <a:cs typeface="Consolas"/>
              </a:rPr>
              <a:t>"Done"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); }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 }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"/>
          <p:cNvSpPr txBox="1">
            <a:spLocks noGrp="1"/>
          </p:cNvSpPr>
          <p:nvPr>
            <p:ph type="title"/>
          </p:nvPr>
        </p:nvSpPr>
        <p:spPr>
          <a:xfrm>
            <a:off x="567710" y="401426"/>
            <a:ext cx="8055000" cy="6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 dirty="0">
                <a:solidFill>
                  <a:srgbClr val="000000"/>
                </a:solidFill>
              </a:rPr>
              <a:t>Блокировка и безопасность потоков</a:t>
            </a:r>
          </a:p>
        </p:txBody>
      </p:sp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Блокировка и безопасность потоков</a:t>
            </a:r>
            <a:endParaRPr lang="ru" sz="1400" dirty="0">
              <a:solidFill>
                <a:srgbClr val="000000"/>
              </a:solidFill>
            </a:endParaRP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536726" y="1099719"/>
            <a:ext cx="8055000" cy="294533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Исправить пример можно, получив </a:t>
            </a:r>
            <a:r>
              <a:rPr lang="ru" sz="1400" b="1" i="1" dirty="0">
                <a:solidFill>
                  <a:srgbClr val="1B5E20"/>
                </a:solidFill>
              </a:rPr>
              <a:t>монопольную блокировку</a:t>
            </a:r>
            <a:r>
              <a:rPr lang="ru" sz="1400" dirty="0">
                <a:solidFill>
                  <a:srgbClr val="000000"/>
                </a:solidFill>
              </a:rPr>
              <a:t> на период чтения и записи разделяемого поля. Для этого в C# предусмотрен оператор </a:t>
            </a:r>
            <a:r>
              <a:rPr lang="ru" sz="1400" b="1" dirty="0">
                <a:solidFill>
                  <a:srgbClr val="0D47A1"/>
                </a:solidFill>
              </a:rPr>
              <a:t>lock</a:t>
            </a:r>
            <a:r>
              <a:rPr lang="ru" sz="1400" dirty="0">
                <a:solidFill>
                  <a:srgbClr val="000000"/>
                </a:solidFill>
              </a:rPr>
              <a:t>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class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ThreadSafe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{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static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bool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_done;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static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readonly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object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_locker =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object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();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static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Main() {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(Go).Start();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  Go();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}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static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Go() {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lock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(_locker) {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  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if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(!_done) {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.WriteLine (</a:t>
            </a:r>
            <a:r>
              <a:rPr lang="en-US" sz="1200" dirty="0">
                <a:solidFill>
                  <a:srgbClr val="A31515"/>
                </a:solidFill>
                <a:latin typeface="Consolas"/>
                <a:cs typeface="Consolas"/>
              </a:rPr>
              <a:t>"Done"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); _done =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true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; }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  }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}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Блокировка и безопасность потоков</a:t>
            </a:r>
            <a:endParaRPr lang="ru" sz="1400" dirty="0">
              <a:solidFill>
                <a:srgbClr val="000000"/>
              </a:solidFill>
            </a:endParaRP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552224" y="828499"/>
            <a:ext cx="8055000" cy="314681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Оператор </a:t>
            </a:r>
            <a:r>
              <a:rPr lang="ru" sz="1400" b="1" dirty="0">
                <a:solidFill>
                  <a:srgbClr val="0D47A1"/>
                </a:solidFill>
              </a:rPr>
              <a:t>lock</a:t>
            </a:r>
            <a:r>
              <a:rPr lang="ru" sz="1400" dirty="0">
                <a:solidFill>
                  <a:srgbClr val="000000"/>
                </a:solidFill>
              </a:rPr>
              <a:t> — </a:t>
            </a:r>
            <a:r>
              <a:rPr lang="ru" sz="1400" b="1" i="1" dirty="0">
                <a:solidFill>
                  <a:srgbClr val="1B5E20"/>
                </a:solidFill>
              </a:rPr>
              <a:t>синтаксический сахар</a:t>
            </a:r>
            <a:r>
              <a:rPr lang="ru" sz="1400" dirty="0">
                <a:solidFill>
                  <a:srgbClr val="000000"/>
                </a:solidFill>
              </a:rPr>
              <a:t> для </a:t>
            </a:r>
            <a:r>
              <a:rPr lang="ru" sz="1400" b="1" dirty="0">
                <a:solidFill>
                  <a:srgbClr val="0D47A1"/>
                </a:solidFill>
              </a:rPr>
              <a:t>Monitor.Enter</a:t>
            </a:r>
            <a:r>
              <a:rPr lang="ru" sz="1400" dirty="0">
                <a:solidFill>
                  <a:srgbClr val="000000"/>
                </a:solidFill>
              </a:rPr>
              <a:t> / </a:t>
            </a:r>
            <a:r>
              <a:rPr lang="ru" sz="1400" b="1" dirty="0">
                <a:solidFill>
                  <a:srgbClr val="0D47A1"/>
                </a:solidFill>
              </a:rPr>
              <a:t>Monitor.Exit</a:t>
            </a:r>
            <a:r>
              <a:rPr lang="ru" sz="1400" dirty="0">
                <a:solidFill>
                  <a:srgbClr val="000000"/>
                </a:solidFill>
              </a:rPr>
              <a:t>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lock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(_locker) { ... }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// Эквивалентно: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Monitor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.Enter(_locker);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try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{ ... }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finally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{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Monitor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.Exit(_locker); }</a:t>
            </a:r>
          </a:p>
          <a:p>
            <a:pPr marL="449263" lvl="0" indent="-363538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Внутри CLR захват блокировки реализован через атомарную инструкцию </a:t>
            </a:r>
            <a:r>
              <a:rPr lang="ru" sz="1400" b="1" dirty="0">
                <a:solidFill>
                  <a:srgbClr val="1B5E20"/>
                </a:solidFill>
              </a:rPr>
              <a:t>CAS</a:t>
            </a:r>
            <a:r>
              <a:rPr lang="ru" sz="1400" dirty="0">
                <a:solidFill>
                  <a:srgbClr val="000000"/>
                </a:solidFill>
              </a:rPr>
              <a:t> (Compare-And-Swap, </a:t>
            </a:r>
            <a:r>
              <a:rPr lang="ru" sz="1400" b="1" dirty="0">
                <a:solidFill>
                  <a:srgbClr val="0D47A1"/>
                </a:solidFill>
              </a:rPr>
              <a:t>cmpxchg</a:t>
            </a:r>
            <a:r>
              <a:rPr lang="ru" sz="1400" dirty="0">
                <a:solidFill>
                  <a:srgbClr val="000000"/>
                </a:solidFill>
              </a:rPr>
              <a:t> на x86). Если CAS не удался — кратковременное зацикливание (spinning), затем эскалация до объекта ядра ОС.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Когда два потока соперничают за блокировку, один </a:t>
            </a:r>
            <a:r>
              <a:rPr lang="ru" sz="1400" i="1" dirty="0">
                <a:solidFill>
                  <a:srgbClr val="000000"/>
                </a:solidFill>
              </a:rPr>
              <a:t>ожидает</a:t>
            </a:r>
            <a:r>
              <a:rPr lang="ru" sz="1400" dirty="0">
                <a:solidFill>
                  <a:srgbClr val="000000"/>
                </a:solidFill>
              </a:rPr>
              <a:t>, пока она не станет доступной. Гарантируется, что только один поток может войти в блок кода за раз.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Код, защищённый таким образом, называется </a:t>
            </a:r>
            <a:r>
              <a:rPr lang="ru" sz="1400" b="1" i="1" dirty="0">
                <a:solidFill>
                  <a:srgbClr val="1B5E20"/>
                </a:solidFill>
              </a:rPr>
              <a:t>безопасным в отношении потоков</a:t>
            </a:r>
            <a:r>
              <a:rPr lang="ru" sz="1400" dirty="0">
                <a:solidFill>
                  <a:srgbClr val="000000"/>
                </a:solidFill>
              </a:rPr>
              <a:t> (thread-safe).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"/>
          <p:cNvSpPr txBox="1">
            <a:spLocks noGrp="1"/>
          </p:cNvSpPr>
          <p:nvPr>
            <p:ph type="title"/>
          </p:nvPr>
        </p:nvSpPr>
        <p:spPr>
          <a:xfrm>
            <a:off x="536713" y="230944"/>
            <a:ext cx="8055000" cy="6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 dirty="0">
                <a:solidFill>
                  <a:srgbClr val="000000"/>
                </a:solidFill>
              </a:rPr>
              <a:t>Инструкция cmpxchg (Compare and Exchange)</a:t>
            </a:r>
          </a:p>
        </p:txBody>
      </p:sp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Блокировка и безопасность потоков</a:t>
            </a:r>
            <a:endParaRPr lang="ru" sz="1400" dirty="0">
              <a:solidFill>
                <a:srgbClr val="000000"/>
              </a:solidFill>
            </a:endParaRP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699458" y="712261"/>
            <a:ext cx="7677376" cy="37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Синтаксис: </a:t>
            </a:r>
            <a:r>
              <a:rPr lang="ru" sz="1400" b="1" dirty="0">
                <a:solidFill>
                  <a:srgbClr val="0D47A1"/>
                </a:solidFill>
              </a:rPr>
              <a:t>lock cmpxchg [dest], src</a:t>
            </a:r>
            <a:r>
              <a:rPr lang="ru" sz="1400" dirty="0">
                <a:solidFill>
                  <a:srgbClr val="000000"/>
                </a:solidFill>
              </a:rPr>
              <a:t> — атомарная инструкция x86: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lock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cmpxchg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DWORD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PTR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[dest], src</a:t>
            </a:r>
            <a:br>
              <a:rPr lang="en-US" sz="1000" dirty="0">
                <a:solidFill>
                  <a:srgbClr val="000000"/>
                </a:solidFill>
                <a:latin typeface="Consolas"/>
                <a:cs typeface="Consolas"/>
              </a:rPr>
            </a:br>
            <a:br>
              <a:rPr lang="en-US" sz="10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 err="1">
                <a:solidFill>
                  <a:srgbClr val="008000"/>
                </a:solidFill>
                <a:latin typeface="Consolas"/>
                <a:cs typeface="Consolas"/>
              </a:rPr>
              <a:t>Алгоритм</a:t>
            </a: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 (атомарно):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1. Сравнить EAX с [dest]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2. Если равны:  [dest] = src,  ZF = 1  (успех)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3. Если нет:    EAX = [dest],  ZF = 0  (неудача)</a:t>
            </a:r>
          </a:p>
          <a:p>
            <a:pPr marL="449263" lvl="0" indent="-363538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pitchFamily="2" charset="2"/>
              <a:buChar char="v"/>
            </a:pPr>
            <a:r>
              <a:rPr lang="ru" sz="1400" b="1" dirty="0">
                <a:solidFill>
                  <a:srgbClr val="0D47A1"/>
                </a:solidFill>
              </a:rPr>
              <a:t>ZF</a:t>
            </a:r>
            <a:r>
              <a:rPr lang="ru" sz="1400" dirty="0">
                <a:solidFill>
                  <a:srgbClr val="000000"/>
                </a:solidFill>
              </a:rPr>
              <a:t> (Zero Flag) — бит в регистре флагов </a:t>
            </a:r>
            <a:r>
              <a:rPr lang="ru" sz="1400" b="1" dirty="0">
                <a:solidFill>
                  <a:srgbClr val="0D47A1"/>
                </a:solidFill>
              </a:rPr>
              <a:t>EFLAGS</a:t>
            </a:r>
            <a:r>
              <a:rPr lang="ru" sz="1400" dirty="0">
                <a:solidFill>
                  <a:srgbClr val="000000"/>
                </a:solidFill>
              </a:rPr>
              <a:t>. Устанавливается в 1, если результат сравнения равен нулю (значения совпали).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Префикс </a:t>
            </a:r>
            <a:r>
              <a:rPr lang="ru" sz="1400" b="1" dirty="0">
                <a:solidFill>
                  <a:srgbClr val="0D47A1"/>
                </a:solidFill>
              </a:rPr>
              <a:t>lock</a:t>
            </a:r>
            <a:r>
              <a:rPr lang="ru" sz="1400" dirty="0">
                <a:solidFill>
                  <a:srgbClr val="000000"/>
                </a:solidFill>
              </a:rPr>
              <a:t> блокирует шину памяти, обеспечивая атомарность на многоядерных процессорах.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В C# доступна через </a:t>
            </a:r>
            <a:r>
              <a:rPr lang="ru" sz="1400" b="1" dirty="0">
                <a:solidFill>
                  <a:srgbClr val="0D47A1"/>
                </a:solidFill>
              </a:rPr>
              <a:t>Interlocked.CompareExchange</a:t>
            </a:r>
            <a:r>
              <a:rPr lang="ru" sz="1400" dirty="0">
                <a:solidFill>
                  <a:srgbClr val="000000"/>
                </a:solidFill>
              </a:rPr>
              <a:t>:</a:t>
            </a:r>
          </a:p>
          <a:p>
            <a:pPr marL="449263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Interlocked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.CompareExchange(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ref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location, newValue, expected);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// Компилируется в: lock cmpxchg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Применение в </a:t>
            </a:r>
            <a:r>
              <a:rPr lang="ru" sz="1400" b="1" dirty="0">
                <a:solidFill>
                  <a:srgbClr val="0D47A1"/>
                </a:solidFill>
              </a:rPr>
              <a:t>lock</a:t>
            </a:r>
            <a:r>
              <a:rPr lang="ru" sz="1400" dirty="0">
                <a:solidFill>
                  <a:srgbClr val="000000"/>
                </a:solidFill>
              </a:rPr>
              <a:t>: CLR кладёт в EAX «свободно», а в src — ID потока. </a:t>
            </a:r>
            <a:br>
              <a:rPr lang="ru" sz="1400" dirty="0">
                <a:solidFill>
                  <a:srgbClr val="000000"/>
                </a:solidFill>
              </a:rPr>
            </a:br>
            <a:r>
              <a:rPr lang="ru" sz="1400" dirty="0">
                <a:solidFill>
                  <a:srgbClr val="000000"/>
                </a:solidFill>
              </a:rPr>
              <a:t>CAS успешен → блокировка захвачена. Неудача → spinning → ядро ОС.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"/>
          <p:cNvSpPr txBox="1">
            <a:spLocks noGrp="1"/>
          </p:cNvSpPr>
          <p:nvPr>
            <p:ph type="title"/>
          </p:nvPr>
        </p:nvSpPr>
        <p:spPr>
          <a:xfrm>
            <a:off x="536713" y="230944"/>
            <a:ext cx="8055000" cy="6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 dirty="0">
                <a:solidFill>
                  <a:srgbClr val="000000"/>
                </a:solidFill>
              </a:rPr>
              <a:t>Передача данных потоку</a:t>
            </a:r>
          </a:p>
        </p:txBody>
      </p:sp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Передача данных потоку</a:t>
            </a:r>
            <a:endParaRPr lang="ru" sz="1400" dirty="0">
              <a:solidFill>
                <a:srgbClr val="000000"/>
              </a:solidFill>
            </a:endParaRP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505728" y="704512"/>
            <a:ext cx="8165573" cy="37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Проще всего передать аргументы начальному методу потока с помощью </a:t>
            </a:r>
            <a:r>
              <a:rPr lang="ru" sz="1400" b="1" i="1" dirty="0">
                <a:solidFill>
                  <a:srgbClr val="1B5E20"/>
                </a:solidFill>
              </a:rPr>
              <a:t>лямбда-выражения</a:t>
            </a:r>
            <a:r>
              <a:rPr lang="ru" sz="1400" dirty="0">
                <a:solidFill>
                  <a:srgbClr val="000000"/>
                </a:solidFill>
              </a:rPr>
              <a:t>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t =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 () =&gt; Print (</a:t>
            </a:r>
            <a:r>
              <a:rPr lang="en-US" sz="1200" dirty="0">
                <a:solidFill>
                  <a:srgbClr val="A31515"/>
                </a:solidFill>
                <a:latin typeface="Consolas"/>
                <a:cs typeface="Consolas"/>
              </a:rPr>
              <a:t>"Hello from t!"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) 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t.Start();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Print (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message) =&gt;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.WriteLine (message);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Такой подход позволяет передавать методу </a:t>
            </a:r>
            <a:r>
              <a:rPr lang="ru" sz="1400" b="1" dirty="0">
                <a:solidFill>
                  <a:srgbClr val="000000"/>
                </a:solidFill>
              </a:rPr>
              <a:t>любое количество аргументов</a:t>
            </a:r>
            <a:r>
              <a:rPr lang="ru" sz="1400" dirty="0">
                <a:solidFill>
                  <a:srgbClr val="000000"/>
                </a:solidFill>
              </a:rPr>
              <a:t>.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Можно поместить всю реализацию в лямбда-функцию с множеством операторов: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(() =&gt;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{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.WriteLine (</a:t>
            </a:r>
            <a:r>
              <a:rPr lang="en-US" sz="1200" dirty="0">
                <a:solidFill>
                  <a:srgbClr val="A31515"/>
                </a:solidFill>
                <a:latin typeface="Consolas"/>
                <a:cs typeface="Consolas"/>
              </a:rPr>
              <a:t>"I'm running on another thread!"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.WriteLine (</a:t>
            </a:r>
            <a:r>
              <a:rPr lang="en-US" sz="1200" dirty="0">
                <a:solidFill>
                  <a:srgbClr val="A31515"/>
                </a:solidFill>
                <a:latin typeface="Consolas"/>
                <a:cs typeface="Consolas"/>
              </a:rPr>
              <a:t>"This is so easy!"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}).Start();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Альтернативный (менее гибкий) приём — передача аргумента методу </a:t>
            </a:r>
            <a:r>
              <a:rPr lang="ru" sz="1400" b="1" dirty="0">
                <a:solidFill>
                  <a:srgbClr val="0D47A1"/>
                </a:solidFill>
              </a:rPr>
              <a:t>Start</a:t>
            </a:r>
            <a:r>
              <a:rPr lang="ru" sz="1400" dirty="0">
                <a:solidFill>
                  <a:srgbClr val="000000"/>
                </a:solidFill>
              </a:rPr>
              <a:t>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t =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(Print);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t.Start (</a:t>
            </a:r>
            <a:r>
              <a:rPr lang="en-US" sz="1200" dirty="0">
                <a:solidFill>
                  <a:srgbClr val="A31515"/>
                </a:solidFill>
                <a:latin typeface="Consolas"/>
                <a:cs typeface="Consolas"/>
              </a:rPr>
              <a:t>"Hello from t!"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);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Передача данных потоку</a:t>
            </a:r>
            <a:endParaRPr lang="ru" sz="1400" dirty="0">
              <a:solidFill>
                <a:srgbClr val="000000"/>
              </a:solidFill>
            </a:endParaRP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505729" y="448790"/>
            <a:ext cx="8055000" cy="37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При передаче через </a:t>
            </a:r>
            <a:r>
              <a:rPr lang="ru" sz="1400" b="1" dirty="0">
                <a:solidFill>
                  <a:srgbClr val="0D47A1"/>
                </a:solidFill>
              </a:rPr>
              <a:t>Start</a:t>
            </a:r>
            <a:r>
              <a:rPr lang="ru" sz="1400" dirty="0">
                <a:solidFill>
                  <a:srgbClr val="000000"/>
                </a:solidFill>
              </a:rPr>
              <a:t> метод потока принимает </a:t>
            </a:r>
            <a:r>
              <a:rPr lang="ru" sz="1400" b="1" dirty="0">
                <a:solidFill>
                  <a:srgbClr val="0D47A1"/>
                </a:solidFill>
              </a:rPr>
              <a:t>object</a:t>
            </a:r>
            <a:r>
              <a:rPr lang="ru" sz="1400" dirty="0">
                <a:solidFill>
                  <a:srgbClr val="000000"/>
                </a:solidFill>
              </a:rPr>
              <a:t>, что требует приведения: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Print (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object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messageObj)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{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message = (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) messageObj; </a:t>
            </a: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// Приведение типа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.WriteLine (message);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Код работает, т.к. конструктор </a:t>
            </a:r>
            <a:r>
              <a:rPr lang="ru" sz="1400" b="1" dirty="0">
                <a:solidFill>
                  <a:srgbClr val="0D47A1"/>
                </a:solidFill>
              </a:rPr>
              <a:t>Thread</a:t>
            </a:r>
            <a:r>
              <a:rPr lang="ru" sz="1400" dirty="0">
                <a:solidFill>
                  <a:srgbClr val="000000"/>
                </a:solidFill>
              </a:rPr>
              <a:t> перегружен для приёма одного из двух делегатов: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delegate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ThreadStart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();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public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delegate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ParameterizedThreadStart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object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obj);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Ограничение </a:t>
            </a:r>
            <a:r>
              <a:rPr lang="ru" sz="1400" b="1" dirty="0">
                <a:solidFill>
                  <a:srgbClr val="0D47A1"/>
                </a:solidFill>
              </a:rPr>
              <a:t>ParameterizedThreadStart</a:t>
            </a:r>
            <a:r>
              <a:rPr lang="ru" sz="1400" dirty="0">
                <a:solidFill>
                  <a:srgbClr val="000000"/>
                </a:solidFill>
              </a:rPr>
              <a:t>: принимает только </a:t>
            </a:r>
            <a:r>
              <a:rPr lang="ru" sz="1400" b="1" dirty="0">
                <a:solidFill>
                  <a:srgbClr val="000000"/>
                </a:solidFill>
              </a:rPr>
              <a:t>один аргумент</a:t>
            </a:r>
            <a:r>
              <a:rPr lang="ru" sz="1400" dirty="0">
                <a:solidFill>
                  <a:srgbClr val="000000"/>
                </a:solidFill>
              </a:rPr>
              <a:t> типа </a:t>
            </a:r>
            <a:r>
              <a:rPr lang="ru" sz="1400" b="1" dirty="0">
                <a:solidFill>
                  <a:srgbClr val="0D47A1"/>
                </a:solidFill>
              </a:rPr>
              <a:t>object</a:t>
            </a:r>
            <a:r>
              <a:rPr lang="ru" sz="1400" dirty="0">
                <a:solidFill>
                  <a:srgbClr val="000000"/>
                </a:solidFill>
              </a:rPr>
              <a:t>, не обеспечивает типобезопасность.</a:t>
            </a:r>
          </a:p>
          <a:p>
            <a:pPr marL="0" lvl="0" indent="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" sz="1400" b="1" dirty="0">
                <a:solidFill>
                  <a:srgbClr val="000000"/>
                </a:solidFill>
              </a:rPr>
              <a:t>Сравнение подходов:</a:t>
            </a:r>
          </a:p>
          <a:p>
            <a:pPr marL="457200" lvl="0" indent="-355600" algn="just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r>
              <a:rPr lang="ru" sz="1400" b="1" dirty="0">
                <a:solidFill>
                  <a:srgbClr val="000000"/>
                </a:solidFill>
              </a:rPr>
              <a:t>Лямбда-выражение</a:t>
            </a:r>
            <a:r>
              <a:rPr lang="ru" sz="1400" dirty="0">
                <a:solidFill>
                  <a:srgbClr val="000000"/>
                </a:solidFill>
              </a:rPr>
              <a:t> — гибко, любое количество типизированных аргументов, вся логика встраивается.</a:t>
            </a:r>
          </a:p>
          <a:p>
            <a:pPr marL="457200" lvl="0" indent="-355600" algn="just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r>
              <a:rPr lang="ru" sz="1400" b="1" dirty="0">
                <a:solidFill>
                  <a:srgbClr val="000000"/>
                </a:solidFill>
              </a:rPr>
              <a:t>Thread.Start(object)</a:t>
            </a:r>
            <a:r>
              <a:rPr lang="ru" sz="1400" dirty="0">
                <a:solidFill>
                  <a:srgbClr val="000000"/>
                </a:solidFill>
              </a:rPr>
              <a:t> — менее гибко, один аргумент типа </a:t>
            </a:r>
            <a:r>
              <a:rPr lang="ru" sz="1400" b="1" dirty="0">
                <a:solidFill>
                  <a:srgbClr val="0D47A1"/>
                </a:solidFill>
              </a:rPr>
              <a:t>object</a:t>
            </a:r>
            <a:r>
              <a:rPr lang="ru" sz="1400" dirty="0">
                <a:solidFill>
                  <a:srgbClr val="000000"/>
                </a:solidFill>
              </a:rPr>
              <a:t>, требует приведения.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Передача данных потоку</a:t>
            </a:r>
            <a:endParaRPr lang="ru" sz="1400" dirty="0">
              <a:solidFill>
                <a:srgbClr val="000000"/>
              </a:solidFill>
            </a:endParaRP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513479" y="402296"/>
            <a:ext cx="8055000" cy="37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Следует соблюдать осторожность, чтобы случайно не изменить </a:t>
            </a:r>
            <a:r>
              <a:rPr lang="ru" sz="1400" b="1" i="1" dirty="0">
                <a:solidFill>
                  <a:srgbClr val="1B5E20"/>
                </a:solidFill>
              </a:rPr>
              <a:t>захваченные переменные</a:t>
            </a:r>
            <a:r>
              <a:rPr lang="ru" sz="1400" dirty="0">
                <a:solidFill>
                  <a:srgbClr val="000000"/>
                </a:solidFill>
              </a:rPr>
              <a:t> после запуска потока: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for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i = </a:t>
            </a:r>
            <a:r>
              <a:rPr lang="en-US" sz="1200" dirty="0">
                <a:solidFill>
                  <a:srgbClr val="09885A"/>
                </a:solidFill>
                <a:latin typeface="Consolas"/>
                <a:cs typeface="Consolas"/>
              </a:rPr>
              <a:t>0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; i &lt; </a:t>
            </a:r>
            <a:r>
              <a:rPr lang="en-US" sz="1200" dirty="0">
                <a:solidFill>
                  <a:srgbClr val="09885A"/>
                </a:solidFill>
                <a:latin typeface="Consolas"/>
                <a:cs typeface="Consolas"/>
              </a:rPr>
              <a:t>10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; i++)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(() =&gt;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.Write (i)).Start();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Вывод будет </a:t>
            </a:r>
            <a:r>
              <a:rPr lang="ru" sz="1400" b="1" dirty="0">
                <a:solidFill>
                  <a:srgbClr val="1B5E20"/>
                </a:solidFill>
              </a:rPr>
              <a:t>недетерминированным</a:t>
            </a:r>
            <a:r>
              <a:rPr lang="ru" sz="1400" dirty="0">
                <a:solidFill>
                  <a:srgbClr val="000000"/>
                </a:solidFill>
              </a:rPr>
              <a:t>! Типичный результат: </a:t>
            </a:r>
            <a:r>
              <a:rPr lang="ru" sz="1400" b="1" dirty="0">
                <a:solidFill>
                  <a:srgbClr val="0D47A1"/>
                </a:solidFill>
              </a:rPr>
              <a:t>0223557799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Проблема: на протяжении всего цикла переменная </a:t>
            </a:r>
            <a:r>
              <a:rPr lang="ru" sz="1400" b="1" dirty="0">
                <a:solidFill>
                  <a:srgbClr val="0D47A1"/>
                </a:solidFill>
              </a:rPr>
              <a:t>i</a:t>
            </a:r>
            <a:r>
              <a:rPr lang="ru" sz="1400" dirty="0">
                <a:solidFill>
                  <a:srgbClr val="000000"/>
                </a:solidFill>
              </a:rPr>
              <a:t> ссылается на </a:t>
            </a:r>
            <a:r>
              <a:rPr lang="ru" sz="1400" i="1" dirty="0">
                <a:solidFill>
                  <a:srgbClr val="000000"/>
                </a:solidFill>
              </a:rPr>
              <a:t>ту же самую</a:t>
            </a:r>
            <a:r>
              <a:rPr lang="ru" sz="1400" dirty="0">
                <a:solidFill>
                  <a:srgbClr val="000000"/>
                </a:solidFill>
              </a:rPr>
              <a:t> ячейку памяти. Каждый поток вызывает </a:t>
            </a:r>
            <a:r>
              <a:rPr lang="ru" sz="1400" b="1" dirty="0">
                <a:solidFill>
                  <a:srgbClr val="0D47A1"/>
                </a:solidFill>
              </a:rPr>
              <a:t>Console.Write</a:t>
            </a:r>
            <a:r>
              <a:rPr lang="ru" sz="1400" dirty="0">
                <a:solidFill>
                  <a:srgbClr val="000000"/>
                </a:solidFill>
              </a:rPr>
              <a:t> с переменной, значение которой может измениться!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Решение — применение </a:t>
            </a:r>
            <a:r>
              <a:rPr lang="ru" sz="1400" b="1" i="1" dirty="0">
                <a:solidFill>
                  <a:srgbClr val="1B5E20"/>
                </a:solidFill>
              </a:rPr>
              <a:t>временной переменной</a:t>
            </a:r>
            <a:r>
              <a:rPr lang="ru" sz="1400" dirty="0">
                <a:solidFill>
                  <a:srgbClr val="000000"/>
                </a:solidFill>
              </a:rPr>
              <a:t>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for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i = </a:t>
            </a:r>
            <a:r>
              <a:rPr lang="en-US" sz="1200" dirty="0">
                <a:solidFill>
                  <a:srgbClr val="09885A"/>
                </a:solidFill>
                <a:latin typeface="Consolas"/>
                <a:cs typeface="Consolas"/>
              </a:rPr>
              <a:t>0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; i &lt; </a:t>
            </a:r>
            <a:r>
              <a:rPr lang="en-US" sz="1200" dirty="0">
                <a:solidFill>
                  <a:srgbClr val="09885A"/>
                </a:solidFill>
                <a:latin typeface="Consolas"/>
                <a:cs typeface="Consolas"/>
              </a:rPr>
              <a:t>10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; i++)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{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temp = i;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(() =&gt;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.Write (temp)).Start();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  <a:p>
            <a:pPr marL="457200" lvl="0" indent="-35560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Теперь все цифры от 0 до 9 выводятся </a:t>
            </a:r>
            <a:r>
              <a:rPr lang="ru" sz="1400" b="1" dirty="0">
                <a:solidFill>
                  <a:srgbClr val="000000"/>
                </a:solidFill>
              </a:rPr>
              <a:t>в точности по одному разу</a:t>
            </a:r>
            <a:r>
              <a:rPr lang="ru" sz="1400" dirty="0">
                <a:solidFill>
                  <a:srgbClr val="000000"/>
                </a:solidFill>
              </a:rPr>
              <a:t>. Переменная </a:t>
            </a:r>
            <a:r>
              <a:rPr lang="ru" sz="1400" b="1" dirty="0">
                <a:solidFill>
                  <a:srgbClr val="0D47A1"/>
                </a:solidFill>
              </a:rPr>
              <a:t>temp</a:t>
            </a:r>
            <a:r>
              <a:rPr lang="ru" sz="1400" dirty="0">
                <a:solidFill>
                  <a:srgbClr val="000000"/>
                </a:solidFill>
              </a:rPr>
              <a:t> локальна для каждой итерации, поэтому каждый поток захватывает отличающуюся ячейку памяти.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Передача данных потоку</a:t>
            </a:r>
            <a:endParaRPr lang="ru" sz="1400" dirty="0">
              <a:solidFill>
                <a:srgbClr val="000000"/>
              </a:solidFill>
            </a:endParaRP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505729" y="704512"/>
            <a:ext cx="8055000" cy="37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Проблему с захваченными переменными проще проиллюстрировать так: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string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text = </a:t>
            </a:r>
            <a:r>
              <a:rPr lang="en-US" sz="1200" dirty="0">
                <a:solidFill>
                  <a:srgbClr val="A31515"/>
                </a:solidFill>
                <a:latin typeface="Consolas"/>
                <a:cs typeface="Consolas"/>
              </a:rPr>
              <a:t>"t1"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t1 =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 () =&gt;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.WriteLine (text) 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text = </a:t>
            </a:r>
            <a:r>
              <a:rPr lang="en-US" sz="1200" dirty="0">
                <a:solidFill>
                  <a:srgbClr val="A31515"/>
                </a:solidFill>
                <a:latin typeface="Consolas"/>
                <a:cs typeface="Consolas"/>
              </a:rPr>
              <a:t>"t2"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t2 =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 () =&gt;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Console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.WriteLine (text) 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t1.Start(); t2.Start();</a:t>
            </a:r>
          </a:p>
          <a:p>
            <a:pPr marL="449263" lvl="0" indent="-347663" algn="just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Оба лямбда-выражения захватывают </a:t>
            </a:r>
            <a:r>
              <a:rPr lang="ru" sz="1400" b="1" i="1" dirty="0">
                <a:solidFill>
                  <a:srgbClr val="1B5E20"/>
                </a:solidFill>
              </a:rPr>
              <a:t>одну и ту же</a:t>
            </a:r>
            <a:r>
              <a:rPr lang="ru" sz="1400" dirty="0">
                <a:solidFill>
                  <a:srgbClr val="000000"/>
                </a:solidFill>
              </a:rPr>
              <a:t> переменную </a:t>
            </a:r>
            <a:r>
              <a:rPr lang="ru" sz="1400" b="1" dirty="0">
                <a:solidFill>
                  <a:srgbClr val="0D47A1"/>
                </a:solidFill>
              </a:rPr>
              <a:t>text</a:t>
            </a:r>
            <a:r>
              <a:rPr lang="ru" sz="1400" dirty="0">
                <a:solidFill>
                  <a:srgbClr val="000000"/>
                </a:solidFill>
              </a:rPr>
              <a:t>. К моменту вызова </a:t>
            </a:r>
            <a:r>
              <a:rPr lang="ru" sz="1400" b="1" dirty="0">
                <a:solidFill>
                  <a:srgbClr val="0D47A1"/>
                </a:solidFill>
              </a:rPr>
              <a:t>Start()</a:t>
            </a:r>
            <a:r>
              <a:rPr lang="ru" sz="1400" dirty="0">
                <a:solidFill>
                  <a:srgbClr val="000000"/>
                </a:solidFill>
              </a:rPr>
              <a:t> значение уже изменено на </a:t>
            </a:r>
            <a:r>
              <a:rPr lang="ru" sz="1400" b="1" dirty="0">
                <a:solidFill>
                  <a:srgbClr val="0D47A1"/>
                </a:solidFill>
              </a:rPr>
              <a:t>"t2"</a:t>
            </a:r>
            <a:r>
              <a:rPr lang="ru" sz="1400" dirty="0">
                <a:solidFill>
                  <a:srgbClr val="000000"/>
                </a:solidFill>
              </a:rPr>
              <a:t>, поэтому строка "t2" выводится </a:t>
            </a:r>
            <a:r>
              <a:rPr lang="ru" sz="1400" b="1" dirty="0">
                <a:solidFill>
                  <a:srgbClr val="1B5E20"/>
                </a:solidFill>
              </a:rPr>
              <a:t>дважды</a:t>
            </a:r>
            <a:r>
              <a:rPr lang="ru" sz="1400" dirty="0">
                <a:solidFill>
                  <a:srgbClr val="000000"/>
                </a:solidFill>
              </a:rPr>
              <a:t>.</a:t>
            </a:r>
          </a:p>
          <a:p>
            <a:pPr marL="0" lvl="0" indent="0" algn="just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br>
              <a:rPr lang="ru" sz="1400" b="1" dirty="0">
                <a:solidFill>
                  <a:srgbClr val="000000"/>
                </a:solidFill>
              </a:rPr>
            </a:br>
            <a:r>
              <a:rPr lang="ru" sz="1400" b="1" dirty="0">
                <a:solidFill>
                  <a:srgbClr val="000000"/>
                </a:solidFill>
              </a:rPr>
              <a:t>Ключевые выводы:</a:t>
            </a:r>
          </a:p>
          <a:p>
            <a:pPr marL="457200" lvl="0" indent="-355600" algn="just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r>
              <a:rPr lang="ru" sz="1400" dirty="0">
                <a:solidFill>
                  <a:srgbClr val="000000"/>
                </a:solidFill>
              </a:rPr>
              <a:t>Лямбда-выражение — наиболее удобный и мощный способ передачи данных потоку.</a:t>
            </a:r>
          </a:p>
          <a:p>
            <a:pPr marL="457200" lvl="0" indent="-355600" algn="just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r>
              <a:rPr lang="ru" sz="1400" dirty="0">
                <a:solidFill>
                  <a:srgbClr val="000000"/>
                </a:solidFill>
              </a:rPr>
              <a:t>Не изменяйте захваченные переменные после запуска потока!</a:t>
            </a:r>
          </a:p>
          <a:p>
            <a:pPr marL="457200" lvl="0" indent="-355600" algn="just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r>
              <a:rPr lang="ru" sz="1400" dirty="0">
                <a:solidFill>
                  <a:srgbClr val="000000"/>
                </a:solidFill>
              </a:rPr>
              <a:t>Используйте </a:t>
            </a:r>
            <a:r>
              <a:rPr lang="ru" sz="1400" b="1" dirty="0">
                <a:solidFill>
                  <a:srgbClr val="000000"/>
                </a:solidFill>
              </a:rPr>
              <a:t>локальную копию</a:t>
            </a:r>
            <a:r>
              <a:rPr lang="ru" sz="1400" dirty="0">
                <a:solidFill>
                  <a:srgbClr val="000000"/>
                </a:solidFill>
              </a:rPr>
              <a:t> (</a:t>
            </a:r>
            <a:r>
              <a:rPr lang="ru" sz="1400" b="1" dirty="0">
                <a:solidFill>
                  <a:srgbClr val="0D47A1"/>
                </a:solidFill>
              </a:rPr>
              <a:t>int temp = i</a:t>
            </a:r>
            <a:r>
              <a:rPr lang="ru" sz="1400" dirty="0">
                <a:solidFill>
                  <a:srgbClr val="000000"/>
                </a:solidFill>
              </a:rPr>
              <a:t>) для безопасного захвата в циклах.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"/>
          <p:cNvSpPr txBox="1">
            <a:spLocks noGrp="1"/>
          </p:cNvSpPr>
          <p:nvPr>
            <p:ph type="title"/>
          </p:nvPr>
        </p:nvSpPr>
        <p:spPr>
          <a:xfrm>
            <a:off x="505716" y="184449"/>
            <a:ext cx="8055000" cy="6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 dirty="0">
                <a:solidFill>
                  <a:srgbClr val="000000"/>
                </a:solidFill>
              </a:rPr>
              <a:t>Обработка исключений</a:t>
            </a:r>
          </a:p>
        </p:txBody>
      </p:sp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Обработка исключений</a:t>
            </a:r>
            <a:endParaRPr lang="ru" sz="1400" dirty="0">
              <a:solidFill>
                <a:srgbClr val="000000"/>
              </a:solidFill>
            </a:endParaRP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544475" y="596023"/>
            <a:ext cx="8055000" cy="38054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Блоки </a:t>
            </a:r>
            <a:r>
              <a:rPr lang="ru" sz="1400" b="1" dirty="0">
                <a:solidFill>
                  <a:srgbClr val="0D47A1"/>
                </a:solidFill>
              </a:rPr>
              <a:t>try/catch/finally</a:t>
            </a:r>
            <a:r>
              <a:rPr lang="ru" sz="1400" dirty="0">
                <a:solidFill>
                  <a:srgbClr val="000000"/>
                </a:solidFill>
              </a:rPr>
              <a:t>, действующие во время создания потока, </a:t>
            </a:r>
            <a:r>
              <a:rPr lang="ru" sz="1400" b="1" i="1" dirty="0">
                <a:solidFill>
                  <a:srgbClr val="1B5E20"/>
                </a:solidFill>
              </a:rPr>
              <a:t>не играют никакой роли</a:t>
            </a:r>
            <a:r>
              <a:rPr lang="ru" sz="1400" dirty="0">
                <a:solidFill>
                  <a:srgbClr val="000000"/>
                </a:solidFill>
              </a:rPr>
              <a:t> в потоке, когда он начинает выполнение: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try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{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1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(Go).Start();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catch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(</a:t>
            </a:r>
            <a:r>
              <a:rPr lang="en-US" sz="1100" dirty="0">
                <a:solidFill>
                  <a:srgbClr val="2B91AF"/>
                </a:solidFill>
                <a:latin typeface="Consolas"/>
                <a:cs typeface="Consolas"/>
              </a:rPr>
              <a:t>Exception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ex) {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100" dirty="0">
                <a:solidFill>
                  <a:srgbClr val="008000"/>
                </a:solidFill>
                <a:latin typeface="Consolas"/>
                <a:cs typeface="Consolas"/>
              </a:rPr>
              <a:t>// Сюда мы никогда не попадём!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  <a:b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Go() {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throw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onsolas"/>
                <a:cs typeface="Consolas"/>
              </a:rPr>
              <a:t>null</a:t>
            </a:r>
            <a:r>
              <a:rPr lang="en-US" sz="1100" dirty="0">
                <a:solidFill>
                  <a:srgbClr val="000000"/>
                </a:solidFill>
                <a:latin typeface="Consolas"/>
                <a:cs typeface="Consolas"/>
              </a:rPr>
              <a:t>; } </a:t>
            </a:r>
            <a:r>
              <a:rPr lang="en-US" sz="1100" dirty="0">
                <a:solidFill>
                  <a:srgbClr val="008000"/>
                </a:solidFill>
                <a:latin typeface="Consolas"/>
                <a:cs typeface="Consolas"/>
              </a:rPr>
              <a:t>// NullReferenceException</a:t>
            </a:r>
          </a:p>
          <a:p>
            <a:pPr marL="387350" lvl="0" indent="-285750" algn="just">
              <a:spcBef>
                <a:spcPts val="400"/>
              </a:spcBef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Причина: каждый поток имеет </a:t>
            </a:r>
            <a:r>
              <a:rPr lang="ru" sz="1400" b="1" dirty="0">
                <a:solidFill>
                  <a:srgbClr val="1B5E20"/>
                </a:solidFill>
              </a:rPr>
              <a:t>собственный стек вызовов</a:t>
            </a:r>
            <a:r>
              <a:rPr lang="ru" sz="1400" dirty="0">
                <a:solidFill>
                  <a:srgbClr val="000000"/>
                </a:solidFill>
              </a:rPr>
              <a:t>. </a:t>
            </a:r>
            <a:r>
              <a:rPr lang="ru-RU" sz="1400" dirty="0">
                <a:solidFill>
                  <a:srgbClr val="000000"/>
                </a:solidFill>
              </a:rPr>
              <a:t>Механизм раскрутки исключений (</a:t>
            </a:r>
            <a:r>
              <a:rPr lang="ru-RU" sz="1400" i="1" dirty="0" err="1">
                <a:solidFill>
                  <a:srgbClr val="000000"/>
                </a:solidFill>
              </a:rPr>
              <a:t>exception</a:t>
            </a:r>
            <a:r>
              <a:rPr lang="ru-RU" sz="1400" i="1" dirty="0">
                <a:solidFill>
                  <a:srgbClr val="000000"/>
                </a:solidFill>
              </a:rPr>
              <a:t> </a:t>
            </a:r>
            <a:r>
              <a:rPr lang="ru-RU" sz="1400" i="1" dirty="0" err="1">
                <a:solidFill>
                  <a:srgbClr val="000000"/>
                </a:solidFill>
              </a:rPr>
              <a:t>unwinding</a:t>
            </a:r>
            <a:r>
              <a:rPr lang="ru-RU" sz="1400" dirty="0">
                <a:solidFill>
                  <a:srgbClr val="000000"/>
                </a:solidFill>
              </a:rPr>
              <a:t>) ищет подходящий </a:t>
            </a:r>
            <a:r>
              <a:rPr lang="ru-RU" sz="1400" b="1" dirty="0" err="1">
                <a:solidFill>
                  <a:srgbClr val="0D47A1"/>
                </a:solidFill>
              </a:rPr>
              <a:t>catch</a:t>
            </a:r>
            <a:r>
              <a:rPr lang="ru-RU" sz="1400" dirty="0">
                <a:solidFill>
                  <a:srgbClr val="000000"/>
                </a:solidFill>
              </a:rPr>
              <a:t> только вверх по текущему стеку — он не может перепрыгнуть в стек другого потока</a:t>
            </a:r>
            <a:r>
              <a:rPr lang="ru" sz="1400" dirty="0">
                <a:solidFill>
                  <a:srgbClr val="000000"/>
                </a:solidFill>
              </a:rPr>
              <a:t>:</a:t>
            </a:r>
          </a:p>
          <a:p>
            <a:pPr marL="357188" lvl="0">
              <a:spcBef>
                <a:spcPts val="100"/>
              </a:spcBef>
            </a:pPr>
            <a:r>
              <a:rPr lang="ru-RU" sz="1050" dirty="0">
                <a:solidFill>
                  <a:srgbClr val="000000"/>
                </a:solidFill>
                <a:latin typeface="Consolas"/>
                <a:cs typeface="Consolas"/>
              </a:rPr>
              <a:t>Главный поток (стек):         Новый поток (стек):</a:t>
            </a:r>
            <a:br>
              <a:rPr lang="ru-RU" sz="105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ru-RU" sz="1050" dirty="0">
                <a:solidFill>
                  <a:srgbClr val="000000"/>
                </a:solidFill>
                <a:latin typeface="Consolas"/>
                <a:cs typeface="Consolas"/>
              </a:rPr>
              <a:t>┌─────────────────┐           ┌─────────────────┐</a:t>
            </a:r>
            <a:br>
              <a:rPr lang="ru-RU" sz="105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ru-RU" sz="1050" dirty="0">
                <a:solidFill>
                  <a:srgbClr val="000000"/>
                </a:solidFill>
                <a:latin typeface="Consolas"/>
                <a:cs typeface="Consolas"/>
              </a:rPr>
              <a:t>│ </a:t>
            </a:r>
            <a:r>
              <a:rPr lang="en-US" sz="1050" dirty="0">
                <a:solidFill>
                  <a:srgbClr val="000000"/>
                </a:solidFill>
                <a:latin typeface="Consolas"/>
                <a:cs typeface="Consolas"/>
              </a:rPr>
              <a:t>Main()          │           │ Go()            │</a:t>
            </a:r>
            <a:br>
              <a:rPr lang="en-US" sz="105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050" dirty="0">
                <a:solidFill>
                  <a:srgbClr val="000000"/>
                </a:solidFill>
                <a:latin typeface="Consolas"/>
                <a:cs typeface="Consolas"/>
              </a:rPr>
              <a:t>│   try {         │           │   throw null; ──┼── </a:t>
            </a:r>
            <a:r>
              <a:rPr lang="ru-RU" sz="1050" dirty="0">
                <a:solidFill>
                  <a:srgbClr val="000000"/>
                </a:solidFill>
                <a:latin typeface="Consolas"/>
                <a:cs typeface="Consolas"/>
              </a:rPr>
              <a:t>ищет </a:t>
            </a:r>
            <a:r>
              <a:rPr lang="en-US" sz="1050" dirty="0">
                <a:solidFill>
                  <a:srgbClr val="000000"/>
                </a:solidFill>
                <a:latin typeface="Consolas"/>
                <a:cs typeface="Consolas"/>
              </a:rPr>
              <a:t>catch </a:t>
            </a:r>
            <a:r>
              <a:rPr lang="ru-RU" sz="1050" dirty="0">
                <a:solidFill>
                  <a:srgbClr val="000000"/>
                </a:solidFill>
                <a:latin typeface="Consolas"/>
                <a:cs typeface="Consolas"/>
              </a:rPr>
              <a:t>ЗДЕСЬ</a:t>
            </a:r>
            <a:br>
              <a:rPr lang="ru-RU" sz="105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ru-RU" sz="1050" dirty="0">
                <a:solidFill>
                  <a:srgbClr val="000000"/>
                </a:solidFill>
                <a:latin typeface="Consolas"/>
                <a:cs typeface="Consolas"/>
              </a:rPr>
              <a:t>│     .</a:t>
            </a:r>
            <a:r>
              <a:rPr lang="en-US" sz="1050" dirty="0">
                <a:solidFill>
                  <a:srgbClr val="000000"/>
                </a:solidFill>
                <a:latin typeface="Consolas"/>
                <a:cs typeface="Consolas"/>
              </a:rPr>
              <a:t>Start() ───┼──</a:t>
            </a:r>
            <a:r>
              <a:rPr lang="ru-RU" sz="1050" dirty="0">
                <a:solidFill>
                  <a:srgbClr val="000000"/>
                </a:solidFill>
                <a:latin typeface="Consolas"/>
                <a:cs typeface="Consolas"/>
              </a:rPr>
              <a:t>создал──&gt;│                 │   ↑ вверх по стеку</a:t>
            </a:r>
            <a:br>
              <a:rPr lang="ru-RU" sz="105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ru-RU" sz="1050" dirty="0">
                <a:solidFill>
                  <a:srgbClr val="000000"/>
                </a:solidFill>
                <a:latin typeface="Consolas"/>
                <a:cs typeface="Consolas"/>
              </a:rPr>
              <a:t>│   }             │           │ (стек пуст)     │   не нашёл → крах</a:t>
            </a:r>
            <a:br>
              <a:rPr lang="ru-RU" sz="105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ru-RU" sz="1050" dirty="0">
                <a:solidFill>
                  <a:srgbClr val="000000"/>
                </a:solidFill>
                <a:latin typeface="Consolas"/>
                <a:cs typeface="Consolas"/>
              </a:rPr>
              <a:t>│   </a:t>
            </a:r>
            <a:r>
              <a:rPr lang="en-US" sz="1050" dirty="0">
                <a:solidFill>
                  <a:srgbClr val="000000"/>
                </a:solidFill>
                <a:latin typeface="Consolas"/>
                <a:cs typeface="Consolas"/>
              </a:rPr>
              <a:t>catch { ... } │           └─────────────────┘</a:t>
            </a:r>
            <a:br>
              <a:rPr lang="en-US" sz="105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050" dirty="0">
                <a:solidFill>
                  <a:srgbClr val="000000"/>
                </a:solidFill>
                <a:latin typeface="Consolas"/>
                <a:cs typeface="Consolas"/>
              </a:rPr>
              <a:t>│   //</a:t>
            </a:r>
            <a:r>
              <a:rPr lang="ru-RU" sz="1050" dirty="0">
                <a:solidFill>
                  <a:srgbClr val="000000"/>
                </a:solidFill>
                <a:latin typeface="Consolas"/>
                <a:cs typeface="Consolas"/>
              </a:rPr>
              <a:t>не сработает│</a:t>
            </a:r>
            <a:br>
              <a:rPr lang="ru-RU" sz="105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ru-RU" sz="1050" dirty="0">
                <a:solidFill>
                  <a:srgbClr val="000000"/>
                </a:solidFill>
                <a:latin typeface="Consolas"/>
                <a:cs typeface="Consolas"/>
              </a:rPr>
              <a:t>└─────────────────┘</a:t>
            </a:r>
            <a:endParaRPr lang="en-US" sz="1050" dirty="0">
              <a:solidFill>
                <a:srgbClr val="000000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Обработка исключений</a:t>
            </a:r>
            <a:endParaRPr lang="ru" sz="1400" dirty="0">
              <a:solidFill>
                <a:srgbClr val="000000"/>
              </a:solidFill>
            </a:endParaRP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714956" y="363550"/>
            <a:ext cx="7630881" cy="37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Обработчик необходимо переместить </a:t>
            </a:r>
            <a:r>
              <a:rPr lang="ru" sz="1400" b="1" i="1" dirty="0">
                <a:solidFill>
                  <a:srgbClr val="1B5E20"/>
                </a:solidFill>
              </a:rPr>
              <a:t>внутрь метода потока</a:t>
            </a:r>
            <a:r>
              <a:rPr lang="ru" sz="1400" dirty="0">
                <a:solidFill>
                  <a:srgbClr val="000000"/>
                </a:solidFill>
              </a:rPr>
              <a:t>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new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Thread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(Go).Start();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Go() {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try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{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  ...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throw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null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; </a:t>
            </a: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// </a:t>
            </a:r>
            <a:r>
              <a:rPr lang="en-US" sz="1200" dirty="0" err="1">
                <a:solidFill>
                  <a:srgbClr val="008000"/>
                </a:solidFill>
                <a:latin typeface="Consolas"/>
                <a:cs typeface="Consolas"/>
              </a:rPr>
              <a:t>NullReferenceException</a:t>
            </a: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 </a:t>
            </a:r>
            <a:r>
              <a:rPr lang="en-US" sz="1200" dirty="0" err="1">
                <a:solidFill>
                  <a:srgbClr val="008000"/>
                </a:solidFill>
                <a:latin typeface="Consolas"/>
                <a:cs typeface="Consolas"/>
              </a:rPr>
              <a:t>перехвачено</a:t>
            </a: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 </a:t>
            </a:r>
            <a:r>
              <a:rPr lang="en-US" sz="1200" dirty="0" err="1">
                <a:solidFill>
                  <a:srgbClr val="008000"/>
                </a:solidFill>
                <a:latin typeface="Consolas"/>
                <a:cs typeface="Consolas"/>
              </a:rPr>
              <a:t>ниже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  ...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}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/>
                <a:cs typeface="Consolas"/>
              </a:rPr>
              <a:t>catch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(</a:t>
            </a: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Exception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ex) {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  </a:t>
            </a: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// </a:t>
            </a:r>
            <a:r>
              <a:rPr lang="en-US" sz="1200" dirty="0" err="1">
                <a:solidFill>
                  <a:srgbClr val="008000"/>
                </a:solidFill>
                <a:latin typeface="Consolas"/>
                <a:cs typeface="Consolas"/>
              </a:rPr>
              <a:t>Зарегистрировать</a:t>
            </a: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 </a:t>
            </a:r>
            <a:r>
              <a:rPr lang="en-US" sz="1200" dirty="0" err="1">
                <a:solidFill>
                  <a:srgbClr val="008000"/>
                </a:solidFill>
                <a:latin typeface="Consolas"/>
                <a:cs typeface="Consolas"/>
              </a:rPr>
              <a:t>исключение</a:t>
            </a: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 в </a:t>
            </a:r>
            <a:r>
              <a:rPr lang="en-US" sz="1200" dirty="0" err="1">
                <a:solidFill>
                  <a:srgbClr val="008000"/>
                </a:solidFill>
                <a:latin typeface="Consolas"/>
                <a:cs typeface="Consolas"/>
              </a:rPr>
              <a:t>журнале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  </a:t>
            </a: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// и/</a:t>
            </a:r>
            <a:r>
              <a:rPr lang="en-US" sz="1200" dirty="0" err="1">
                <a:solidFill>
                  <a:srgbClr val="008000"/>
                </a:solidFill>
                <a:latin typeface="Consolas"/>
                <a:cs typeface="Consolas"/>
              </a:rPr>
              <a:t>или</a:t>
            </a: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 </a:t>
            </a:r>
            <a:r>
              <a:rPr lang="en-US" sz="1200" dirty="0" err="1">
                <a:solidFill>
                  <a:srgbClr val="008000"/>
                </a:solidFill>
                <a:latin typeface="Consolas"/>
                <a:cs typeface="Consolas"/>
              </a:rPr>
              <a:t>сигнализировать</a:t>
            </a: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 </a:t>
            </a:r>
            <a:r>
              <a:rPr lang="en-US" sz="1200" dirty="0" err="1">
                <a:solidFill>
                  <a:srgbClr val="008000"/>
                </a:solidFill>
                <a:latin typeface="Consolas"/>
                <a:cs typeface="Consolas"/>
              </a:rPr>
              <a:t>другому</a:t>
            </a: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 </a:t>
            </a:r>
            <a:r>
              <a:rPr lang="en-US" sz="1200" dirty="0" err="1">
                <a:solidFill>
                  <a:srgbClr val="008000"/>
                </a:solidFill>
                <a:latin typeface="Consolas"/>
                <a:cs typeface="Consolas"/>
              </a:rPr>
              <a:t>потоку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  }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  <a:p>
            <a:pPr marL="387350" lvl="0" indent="-28575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В производственных приложениях необходимо предусмотреть обработчики исключений для </a:t>
            </a:r>
            <a:r>
              <a:rPr lang="ru" sz="1400" b="1" dirty="0">
                <a:solidFill>
                  <a:srgbClr val="000000"/>
                </a:solidFill>
              </a:rPr>
              <a:t>всех методов входа в потоки</a:t>
            </a:r>
            <a:r>
              <a:rPr lang="ru" sz="1400" dirty="0">
                <a:solidFill>
                  <a:srgbClr val="000000"/>
                </a:solidFill>
              </a:rPr>
              <a:t> — в точности как в главном потоке.</a:t>
            </a:r>
          </a:p>
          <a:p>
            <a:pPr marL="387350" lvl="0" indent="-28575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Необработанное исключение приведёт к </a:t>
            </a:r>
            <a:r>
              <a:rPr lang="ru" sz="1400" b="1" dirty="0">
                <a:solidFill>
                  <a:srgbClr val="1B5E20"/>
                </a:solidFill>
              </a:rPr>
              <a:t>прекращению работы всего приложения</a:t>
            </a:r>
            <a:r>
              <a:rPr lang="ru" sz="1400" dirty="0">
                <a:solidFill>
                  <a:srgbClr val="000000"/>
                </a:solidFill>
              </a:rPr>
              <a:t>!</a:t>
            </a:r>
          </a:p>
          <a:p>
            <a:pPr marL="387350" lvl="0" indent="-28575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Обычно в </a:t>
            </a:r>
            <a:r>
              <a:rPr lang="ru" sz="1400" b="1" dirty="0">
                <a:solidFill>
                  <a:srgbClr val="0D47A1"/>
                </a:solidFill>
              </a:rPr>
              <a:t>catch</a:t>
            </a:r>
            <a:r>
              <a:rPr lang="ru" sz="1400" dirty="0">
                <a:solidFill>
                  <a:srgbClr val="000000"/>
                </a:solidFill>
              </a:rPr>
              <a:t> регистрируют исключение в журнале и/или перезапускают приложение.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"/>
          <p:cNvSpPr txBox="1">
            <a:spLocks noGrp="1"/>
          </p:cNvSpPr>
          <p:nvPr>
            <p:ph type="title"/>
          </p:nvPr>
        </p:nvSpPr>
        <p:spPr>
          <a:xfrm>
            <a:off x="536713" y="230944"/>
            <a:ext cx="8055000" cy="6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 dirty="0">
                <a:solidFill>
                  <a:srgbClr val="000000"/>
                </a:solidFill>
              </a:rPr>
              <a:t>Централизованная обработка исключений</a:t>
            </a:r>
          </a:p>
        </p:txBody>
      </p:sp>
      <p:cxnSp>
        <p:nvCxnSpPr>
          <p:cNvPr id="137" name="Line"/>
          <p:cNvCxnSpPr/>
          <p:nvPr/>
        </p:nvCxnSpPr>
        <p:spPr>
          <a:xfrm rot="10800000" flipH="1">
            <a:off x="239584" y="4541268"/>
            <a:ext cx="86493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Footer"/>
          <p:cNvSpPr txBox="1">
            <a:spLocks noGrp="1"/>
          </p:cNvSpPr>
          <p:nvPr>
            <p:ph type="title"/>
          </p:nvPr>
        </p:nvSpPr>
        <p:spPr>
          <a:xfrm>
            <a:off x="239575" y="4543675"/>
            <a:ext cx="745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1400" dirty="0">
                <a:solidFill>
                  <a:srgbClr val="000000"/>
                </a:solidFill>
              </a:rPr>
              <a:t>Многопоточная обработка | </a:t>
            </a:r>
            <a:r>
              <a:rPr lang="ru-RU" sz="1400" dirty="0">
                <a:solidFill>
                  <a:srgbClr val="000000"/>
                </a:solidFill>
              </a:rPr>
              <a:t>Обработка исключений</a:t>
            </a:r>
            <a:endParaRPr lang="ru" sz="1400" dirty="0">
              <a:solidFill>
                <a:srgbClr val="000000"/>
              </a:solidFill>
            </a:endParaRPr>
          </a:p>
        </p:txBody>
      </p:sp>
      <p:sp>
        <p:nvSpPr>
          <p:cNvPr id="139" name="Body"/>
          <p:cNvSpPr txBox="1">
            <a:spLocks noGrp="1"/>
          </p:cNvSpPr>
          <p:nvPr>
            <p:ph type="title"/>
          </p:nvPr>
        </p:nvSpPr>
        <p:spPr>
          <a:xfrm>
            <a:off x="505729" y="743258"/>
            <a:ext cx="8055000" cy="37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>
                <a:solidFill>
                  <a:srgbClr val="000000"/>
                </a:solidFill>
              </a:rPr>
              <a:t>В приложениях WPF, UWP и Windows Forms можно подписаться на «глобальные» события обработки исключений:</a:t>
            </a:r>
          </a:p>
          <a:p>
            <a:pPr marL="85725" lv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// WPF: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Application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.DispatcherUnhandledException += ...;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008000"/>
                </a:solidFill>
                <a:latin typeface="Consolas"/>
                <a:cs typeface="Consolas"/>
              </a:rPr>
              <a:t>// Windows Forms:</a:t>
            </a:r>
            <a:b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</a:br>
            <a:r>
              <a:rPr lang="en-US" sz="1200" dirty="0">
                <a:solidFill>
                  <a:srgbClr val="2B91AF"/>
                </a:solidFill>
                <a:latin typeface="Consolas"/>
                <a:cs typeface="Consolas"/>
              </a:rPr>
              <a:t>Application</a:t>
            </a:r>
            <a:r>
              <a:rPr lang="en-US" sz="1200" dirty="0">
                <a:solidFill>
                  <a:srgbClr val="000000"/>
                </a:solidFill>
                <a:latin typeface="Consolas"/>
                <a:cs typeface="Consolas"/>
              </a:rPr>
              <a:t>.ThreadException += ...;</a:t>
            </a:r>
          </a:p>
          <a:p>
            <a:pPr marL="387350" lvl="0" indent="-28575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Эти события инициируются после возникновения необработанного исключения в любой части программы, вызванной в </a:t>
            </a:r>
            <a:r>
              <a:rPr lang="ru" sz="1400" b="1" i="1" dirty="0">
                <a:solidFill>
                  <a:srgbClr val="1B5E20"/>
                </a:solidFill>
              </a:rPr>
              <a:t>цикле сообщений</a:t>
            </a:r>
            <a:r>
              <a:rPr lang="ru" sz="1400" dirty="0">
                <a:solidFill>
                  <a:srgbClr val="000000"/>
                </a:solidFill>
              </a:rPr>
              <a:t> (весь код в главном потоке, пока активен </a:t>
            </a:r>
            <a:r>
              <a:rPr lang="ru" sz="1400" b="1" dirty="0">
                <a:solidFill>
                  <a:srgbClr val="0D47A1"/>
                </a:solidFill>
              </a:rPr>
              <a:t>Application</a:t>
            </a:r>
            <a:r>
              <a:rPr lang="ru" sz="1400" dirty="0">
                <a:solidFill>
                  <a:srgbClr val="000000"/>
                </a:solidFill>
              </a:rPr>
              <a:t>).</a:t>
            </a:r>
          </a:p>
          <a:p>
            <a:pPr marL="387350" lvl="0" indent="-28575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Полезны как </a:t>
            </a:r>
            <a:r>
              <a:rPr lang="ru" sz="1400" b="1" dirty="0">
                <a:solidFill>
                  <a:srgbClr val="000000"/>
                </a:solidFill>
              </a:rPr>
              <a:t>резервное средство</a:t>
            </a:r>
            <a:r>
              <a:rPr lang="ru" sz="1400" dirty="0">
                <a:solidFill>
                  <a:srgbClr val="000000"/>
                </a:solidFill>
              </a:rPr>
              <a:t> для регистрации и сообщения об ошибках.</a:t>
            </a:r>
          </a:p>
          <a:p>
            <a:pPr marL="387350" lvl="0" indent="-28575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Ограничение: </a:t>
            </a:r>
            <a:r>
              <a:rPr lang="ru" sz="1400" b="1" dirty="0">
                <a:solidFill>
                  <a:srgbClr val="1B5E20"/>
                </a:solidFill>
              </a:rPr>
              <a:t>неприменимы</a:t>
            </a:r>
            <a:r>
              <a:rPr lang="ru" sz="1400" dirty="0">
                <a:solidFill>
                  <a:srgbClr val="000000"/>
                </a:solidFill>
              </a:rPr>
              <a:t> для необработанных исключений в созданных вами потоках, не относящихся к UI.</a:t>
            </a:r>
          </a:p>
          <a:p>
            <a:pPr marL="387350" lvl="0" indent="-285750" algn="just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Pts val="1400"/>
              <a:buFont typeface="Wingdings" panose="05000000000000000000" pitchFamily="2" charset="2"/>
              <a:buChar char="v"/>
            </a:pPr>
            <a:r>
              <a:rPr lang="ru" sz="1400" dirty="0">
                <a:solidFill>
                  <a:srgbClr val="000000"/>
                </a:solidFill>
              </a:rPr>
              <a:t>Обработка этих событий предотвращает аварийное завершение, но впоследствии может потребоваться </a:t>
            </a:r>
            <a:r>
              <a:rPr lang="ru" sz="1400" b="1" dirty="0">
                <a:solidFill>
                  <a:srgbClr val="000000"/>
                </a:solidFill>
              </a:rPr>
              <a:t>перезапуск приложения</a:t>
            </a:r>
            <a:r>
              <a:rPr lang="ru" sz="1400" dirty="0">
                <a:solidFill>
                  <a:srgbClr val="000000"/>
                </a:solidFill>
              </a:rPr>
              <a:t> во избежание разрушения состояния.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3106</Words>
  <Application>Microsoft Office PowerPoint</Application>
  <PresentationFormat>Экран (16:9)</PresentationFormat>
  <Paragraphs>167</Paragraphs>
  <Slides>23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23</vt:i4>
      </vt:variant>
    </vt:vector>
  </HeadingPairs>
  <TitlesOfParts>
    <vt:vector size="31" baseType="lpstr">
      <vt:lpstr>Wingdings</vt:lpstr>
      <vt:lpstr>Calibri</vt:lpstr>
      <vt:lpstr>Nunito SemiBold</vt:lpstr>
      <vt:lpstr>Consolas</vt:lpstr>
      <vt:lpstr>Arial</vt:lpstr>
      <vt:lpstr>Nunito Medium</vt:lpstr>
      <vt:lpstr>Nunito</vt:lpstr>
      <vt:lpstr>Shift</vt:lpstr>
      <vt:lpstr>ПАРАЛЛЕЛИЗМ И АСИНХРОННОСТЬ В C# Тема: Многопоточная обработка</vt:lpstr>
      <vt:lpstr>Введение в курс «Параллелизм и асинхронность»</vt:lpstr>
      <vt:lpstr>Введение</vt:lpstr>
      <vt:lpstr>Создание потока</vt:lpstr>
      <vt:lpstr>Многопоточная обработка | Создание потока  </vt:lpstr>
      <vt:lpstr>Join и Sleep</vt:lpstr>
      <vt:lpstr>Блокирование</vt:lpstr>
      <vt:lpstr>ThreadState</vt:lpstr>
      <vt:lpstr>Интенсивный ввод-вывод или  интенсивные вычисления</vt:lpstr>
      <vt:lpstr>Блокирование или зацикливание</vt:lpstr>
      <vt:lpstr>Локальное или разделяемое состояние</vt:lpstr>
      <vt:lpstr>Многопоточная обработка | Локальное или разделяемое состояние</vt:lpstr>
      <vt:lpstr>Многопоточная обработка | Локальное или разделяемое состояние</vt:lpstr>
      <vt:lpstr>Блокировка и безопасность потоков</vt:lpstr>
      <vt:lpstr>Многопоточная обработка | Блокировка и безопасность потоков</vt:lpstr>
      <vt:lpstr>Инструкция cmpxchg (Compare and Exchange)</vt:lpstr>
      <vt:lpstr>Передача данных потоку</vt:lpstr>
      <vt:lpstr>Многопоточная обработка | Передача данных потоку</vt:lpstr>
      <vt:lpstr>Многопоточная обработка | Передача данных потоку</vt:lpstr>
      <vt:lpstr>Многопоточная обработка | Передача данных потоку</vt:lpstr>
      <vt:lpstr>Обработка исключений</vt:lpstr>
      <vt:lpstr>Многопоточная обработка | Обработка исключений</vt:lpstr>
      <vt:lpstr>Централизованная обработка исключений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Руслан Гибадуллин</dc:creator>
  <cp:lastModifiedBy>Руслан Гибадуллин</cp:lastModifiedBy>
  <cp:revision>13</cp:revision>
  <dcterms:modified xsi:type="dcterms:W3CDTF">2026-02-09T07:41:37Z</dcterms:modified>
</cp:coreProperties>
</file>