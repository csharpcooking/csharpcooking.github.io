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62" r:id="rId5"/>
    <p:sldId id="263" r:id="rId6"/>
    <p:sldId id="261" r:id="rId7"/>
    <p:sldId id="264" r:id="rId8"/>
    <p:sldId id="265" r:id="rId9"/>
    <p:sldId id="259" r:id="rId10"/>
    <p:sldId id="260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Nunito" pitchFamily="2" charset="-52"/>
      <p:regular r:id="rId30"/>
      <p:bold r:id="rId31"/>
      <p:italic r:id="rId32"/>
      <p:boldItalic r:id="rId33"/>
    </p:embeddedFont>
    <p:embeddedFont>
      <p:font typeface="Nunito Medium" panose="020B0604020202020204" charset="-52"/>
      <p:regular r:id="rId34"/>
      <p:bold r:id="rId35"/>
      <p:italic r:id="rId36"/>
      <p:boldItalic r:id="rId37"/>
    </p:embeddedFont>
    <p:embeddedFont>
      <p:font typeface="Nunito SemiBold" pitchFamily="2" charset="-52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98b3f3061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98b3f3061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569647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569647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411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809400" y="1644200"/>
            <a:ext cx="7525200" cy="157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00" b="1">
                <a:solidFill>
                  <a:srgbClr val="000000"/>
                </a:solidFill>
              </a:rPr>
              <a:t>ПАРАЛЛЕЛИЗМ И АСИНХРОННОСТЬ В C#</a:t>
            </a:r>
            <a:br>
              <a:rPr lang="ru" sz="2700" b="1">
                <a:solidFill>
                  <a:srgbClr val="000000"/>
                </a:solidFill>
              </a:rPr>
            </a:br>
            <a:r>
              <a:rPr lang="ru" sz="2700" b="1">
                <a:solidFill>
                  <a:srgbClr val="000000"/>
                </a:solidFill>
              </a:rPr>
              <a:t>Тема: </a:t>
            </a:r>
            <a:r>
              <a:rPr lang="ru" sz="2700" b="1" u="sng">
                <a:solidFill>
                  <a:srgbClr val="000000"/>
                </a:solidFill>
              </a:rPr>
              <a:t>Многопоточная обработка</a:t>
            </a:r>
            <a:endParaRPr sz="2700" b="1" i="1" u="sng">
              <a:solidFill>
                <a:srgbClr val="000000"/>
              </a:solidFill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3663500" y="3012075"/>
            <a:ext cx="45078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i="1" dirty="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Гибадуллин Р.Ф.</a:t>
            </a:r>
            <a:endParaRPr sz="1900" i="1" dirty="0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i="1" dirty="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                </a:t>
            </a:r>
            <a:r>
              <a:rPr lang="ru" sz="1900" dirty="0">
                <a:solidFill>
                  <a:srgbClr val="0000FF"/>
                </a:solidFill>
                <a:latin typeface="Nunito" pitchFamily="2" charset="-52"/>
                <a:ea typeface="Nunito Medium"/>
                <a:cs typeface="Nunito Medium"/>
                <a:sym typeface="Nunito Medium"/>
              </a:rPr>
              <a:t>rfgibadullin@kai.ru</a:t>
            </a:r>
            <a:endParaRPr sz="1900" dirty="0">
              <a:solidFill>
                <a:srgbClr val="0000FF"/>
              </a:solidFill>
              <a:latin typeface="Nunito" pitchFamily="2" charset="-52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988" y="571625"/>
            <a:ext cx="2296023" cy="9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 txBox="1"/>
          <p:nvPr/>
        </p:nvSpPr>
        <p:spPr>
          <a:xfrm>
            <a:off x="4143000" y="3902125"/>
            <a:ext cx="4191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Nunito SemiBold"/>
                <a:ea typeface="Nunito SemiBold"/>
                <a:cs typeface="Nunito SemiBold"/>
                <a:sym typeface="Nunito SemiBold"/>
              </a:rPr>
              <a:t>Презентация подготовлена на основе источника:</a:t>
            </a:r>
            <a:endParaRPr sz="1100" i="1"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i="1">
                <a:latin typeface="Nunito SemiBold"/>
                <a:ea typeface="Nunito SemiBold"/>
                <a:cs typeface="Nunito SemiBold"/>
                <a:sym typeface="Nunito SemiBold"/>
              </a:rPr>
              <a:t>Албахари Д. C# 9.0. Справочник. Полное описание языка.: </a:t>
            </a:r>
            <a:br>
              <a:rPr lang="ru" sz="1100" i="1">
                <a:latin typeface="Nunito SemiBold"/>
                <a:ea typeface="Nunito SemiBold"/>
                <a:cs typeface="Nunito SemiBold"/>
                <a:sym typeface="Nunito SemiBold"/>
              </a:rPr>
            </a:br>
            <a:r>
              <a:rPr lang="ru" sz="1100" i="1">
                <a:latin typeface="Nunito SemiBold"/>
                <a:ea typeface="Nunito SemiBold"/>
                <a:cs typeface="Nunito SemiBold"/>
                <a:sym typeface="Nunito SemiBold"/>
              </a:rPr>
              <a:t>Пер. с англ. – СпБ.: ООО «Диалектика», 2021. – С. 627-690. </a:t>
            </a:r>
            <a:br>
              <a:rPr lang="ru" sz="1100" i="1">
                <a:latin typeface="Nunito SemiBold"/>
                <a:ea typeface="Nunito SemiBold"/>
                <a:cs typeface="Nunito SemiBold"/>
                <a:sym typeface="Nunito SemiBold"/>
              </a:rPr>
            </a:br>
            <a:r>
              <a:rPr lang="ru" sz="1100" i="1">
                <a:latin typeface="Nunito SemiBold"/>
                <a:ea typeface="Nunito SemiBold"/>
                <a:cs typeface="Nunito SemiBold"/>
                <a:sym typeface="Nunito SemiBold"/>
              </a:rPr>
              <a:t>(См. главу 14. Параллелизм и асинхронность.)</a:t>
            </a:r>
            <a:endParaRPr sz="1100" i="1"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>
            <a:spLocks noGrp="1"/>
          </p:cNvSpPr>
          <p:nvPr>
            <p:ph type="title"/>
          </p:nvPr>
        </p:nvSpPr>
        <p:spPr>
          <a:xfrm>
            <a:off x="536713" y="285188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ru" sz="2400" b="1" dirty="0">
                <a:solidFill>
                  <a:srgbClr val="000000"/>
                </a:solidFill>
              </a:rPr>
              <a:t>Введение в курс </a:t>
            </a:r>
            <a:r>
              <a:rPr lang="ru-RU" sz="2400" b="1" dirty="0">
                <a:solidFill>
                  <a:srgbClr val="000000"/>
                </a:solidFill>
              </a:rPr>
              <a:t>«Параллелизм и асинхронность»</a:t>
            </a:r>
            <a:endParaRPr sz="2400" b="1" i="1" dirty="0">
              <a:solidFill>
                <a:srgbClr val="000000"/>
              </a:solidFill>
            </a:endParaRPr>
          </a:p>
        </p:txBody>
      </p:sp>
      <p:cxnSp>
        <p:nvCxnSpPr>
          <p:cNvPr id="137" name="Google Shape;137;p14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1400" dirty="0">
                <a:solidFill>
                  <a:srgbClr val="000000"/>
                </a:solidFill>
              </a:rPr>
              <a:t>Введение в курс «Параллелизм и асинхронность»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00" dirty="0">
              <a:solidFill>
                <a:srgbClr val="000000"/>
              </a:solidFill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536725" y="843996"/>
            <a:ext cx="8055000" cy="33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Ниже приведены самые распространенные сценарии применения параллелизма.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Написание отзывчивых пользовательских интерфейсов</a:t>
            </a:r>
            <a:r>
              <a:rPr lang="ru" sz="1400" dirty="0">
                <a:solidFill>
                  <a:srgbClr val="000000"/>
                </a:solidFill>
              </a:rPr>
              <a:t> — в приложениях WPF, мобильных и Windows Forms длительные задачи должны запускаться параллельно с кодом UI.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Обеспечение одновременной обработки запросов</a:t>
            </a:r>
            <a:r>
              <a:rPr lang="ru" sz="1400" dirty="0">
                <a:solidFill>
                  <a:srgbClr val="000000"/>
                </a:solidFill>
              </a:rPr>
              <a:t> — клиентские запросы на сервер должны обрабатываться параллельно для масштабируемости. В ASP.NET Core это делается автоматически.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Параллельное программирование</a:t>
            </a:r>
            <a:r>
              <a:rPr lang="ru" sz="1400" dirty="0">
                <a:solidFill>
                  <a:srgbClr val="000000"/>
                </a:solidFill>
              </a:rPr>
              <a:t> — код с интенсивными вычислениями выполняется быстрее на многоядерных компьютерах, если нагрузка распределяется между ядрами.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Упреждающее выполнение</a:t>
            </a:r>
            <a:r>
              <a:rPr lang="ru" sz="1400" dirty="0">
                <a:solidFill>
                  <a:srgbClr val="000000"/>
                </a:solidFill>
              </a:rPr>
              <a:t> — на многоядерных машинах можно улучшить производительность, предсказывая и выполняя действия заранее.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71475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Общий механизм одновременного выполнения кода называется </a:t>
            </a:r>
            <a:r>
              <a:rPr lang="ru" sz="1400" i="1" dirty="0">
                <a:solidFill>
                  <a:srgbClr val="000000"/>
                </a:solidFill>
              </a:rPr>
              <a:t>многопоточностью</a:t>
            </a:r>
            <a:r>
              <a:rPr lang="ru" sz="1400" dirty="0">
                <a:solidFill>
                  <a:srgbClr val="000000"/>
                </a:solidFill>
              </a:rPr>
              <a:t>. Многопоточность поддерживается CLR и ОС, являясь фундаментальной концепцией параллелизма. Важно понимать основы многопоточной обработки и влияние потоков на </a:t>
            </a:r>
            <a:r>
              <a:rPr lang="ru" sz="1400" i="1" dirty="0">
                <a:solidFill>
                  <a:srgbClr val="000000"/>
                </a:solidFill>
              </a:rPr>
              <a:t>разделяемое состояние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  <a:endParaRPr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>
            <a:spLocks noGrp="1"/>
          </p:cNvSpPr>
          <p:nvPr>
            <p:ph type="title"/>
          </p:nvPr>
        </p:nvSpPr>
        <p:spPr>
          <a:xfrm>
            <a:off x="528964" y="440171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Введение</a:t>
            </a:r>
            <a:endParaRPr sz="2400" b="1" i="1" dirty="0">
              <a:solidFill>
                <a:srgbClr val="000000"/>
              </a:solidFill>
            </a:endParaRPr>
          </a:p>
        </p:txBody>
      </p:sp>
      <p:cxnSp>
        <p:nvCxnSpPr>
          <p:cNvPr id="137" name="Google Shape;137;p14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Введение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00" dirty="0">
              <a:solidFill>
                <a:srgbClr val="000000"/>
              </a:solidFill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536725" y="1060973"/>
            <a:ext cx="8055000" cy="33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500"/>
            </a:pPr>
            <a:r>
              <a:rPr lang="ru" sz="1500" b="1" i="1" dirty="0">
                <a:solidFill>
                  <a:srgbClr val="000000"/>
                </a:solidFill>
              </a:rPr>
              <a:t>Поток</a:t>
            </a:r>
            <a:r>
              <a:rPr lang="ru" sz="1500" dirty="0">
                <a:solidFill>
                  <a:srgbClr val="000000"/>
                </a:solidFill>
              </a:rPr>
              <a:t> — это путь выполнения, который может проходить независимо от других таких путей.</a:t>
            </a: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Каждый поток запускается внутри процесса ОС, который предоставляет изолированную среду для выполнения программы.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Однопоточная программа</a:t>
            </a:r>
            <a:r>
              <a:rPr lang="ru" sz="1400" dirty="0">
                <a:solidFill>
                  <a:srgbClr val="000000"/>
                </a:solidFill>
              </a:rPr>
              <a:t> — внутри изолированной среды процесса функционирует только один поток, поэтому он получает монопольный доступ к среде.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Многопоточная программа</a:t>
            </a:r>
            <a:r>
              <a:rPr lang="ru" sz="1400" dirty="0">
                <a:solidFill>
                  <a:srgbClr val="000000"/>
                </a:solidFill>
              </a:rPr>
              <a:t> — внутри единственного процесса запускается множество потоков, разделяя одну и ту же среду выполнения (скажем, память).</a:t>
            </a: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Отчасти это одна из причин, почему полезна многопоточность: например, один поток может извлекать данные в фоновом режиме, в то время как другой поток — отображать их по мере поступления. Такие данные называются </a:t>
            </a:r>
            <a:r>
              <a:rPr lang="ru" sz="1400" b="1" i="1" dirty="0">
                <a:solidFill>
                  <a:srgbClr val="000000"/>
                </a:solidFill>
              </a:rPr>
              <a:t>разделяемым состоянием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>
            <a:spLocks noGrp="1"/>
          </p:cNvSpPr>
          <p:nvPr>
            <p:ph type="title"/>
          </p:nvPr>
        </p:nvSpPr>
        <p:spPr>
          <a:xfrm>
            <a:off x="536713" y="308436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Создание потока</a:t>
            </a:r>
            <a:endParaRPr sz="2400" b="1" i="1" dirty="0">
              <a:solidFill>
                <a:srgbClr val="000000"/>
              </a:solidFill>
            </a:endParaRPr>
          </a:p>
        </p:txBody>
      </p:sp>
      <p:cxnSp>
        <p:nvCxnSpPr>
          <p:cNvPr id="137" name="Google Shape;137;p14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Многопоточная обработка | Создание потока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490231" y="836247"/>
            <a:ext cx="8055000" cy="33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00000"/>
                </a:solidFill>
              </a:rPr>
              <a:t>Клиентская программа (консольная, WPF, UWP или Windows Forms) запускается в единственном потоке, который создается автоматически операционной системой (</a:t>
            </a:r>
            <a:r>
              <a:rPr lang="ru" sz="1300" b="1" i="1" dirty="0">
                <a:solidFill>
                  <a:srgbClr val="1B5E20"/>
                </a:solidFill>
              </a:rPr>
              <a:t>главный поток</a:t>
            </a:r>
            <a:r>
              <a:rPr lang="ru" sz="1300" dirty="0">
                <a:solidFill>
                  <a:srgbClr val="000000"/>
                </a:solidFill>
              </a:rPr>
              <a:t>). Здесь он и будет существовать как однопоточное приложение, если только вы не создадите дополнительные потоки (прямо или косвенно).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v"/>
            </a:pPr>
            <a:r>
              <a:rPr lang="ru" sz="1300" dirty="0">
                <a:solidFill>
                  <a:srgbClr val="000000"/>
                </a:solidFill>
              </a:rPr>
              <a:t>Создать и запустить новый поток можно за счет создания объекта </a:t>
            </a:r>
            <a:r>
              <a:rPr lang="ru" sz="1300" b="1" dirty="0">
                <a:solidFill>
                  <a:srgbClr val="0D47A1"/>
                </a:solidFill>
              </a:rPr>
              <a:t>Thread</a:t>
            </a:r>
            <a:r>
              <a:rPr lang="ru" sz="1300" dirty="0">
                <a:solidFill>
                  <a:srgbClr val="000000"/>
                </a:solidFill>
              </a:rPr>
              <a:t> и вызова его метода </a:t>
            </a:r>
            <a:r>
              <a:rPr lang="ru" sz="1300" b="1" dirty="0">
                <a:solidFill>
                  <a:srgbClr val="0D47A1"/>
                </a:solidFill>
              </a:rPr>
              <a:t>Start</a:t>
            </a:r>
            <a:r>
              <a:rPr lang="ru" sz="1300" dirty="0">
                <a:solidFill>
                  <a:srgbClr val="000000"/>
                </a:solidFill>
              </a:rPr>
              <a:t>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v"/>
            </a:pPr>
            <a:r>
              <a:rPr lang="ru" sz="1300" dirty="0">
                <a:solidFill>
                  <a:srgbClr val="000000"/>
                </a:solidFill>
              </a:rPr>
              <a:t>Простейший конструктор </a:t>
            </a:r>
            <a:r>
              <a:rPr lang="ru" sz="1300" b="1" dirty="0">
                <a:solidFill>
                  <a:srgbClr val="0D47A1"/>
                </a:solidFill>
              </a:rPr>
              <a:t>Thread</a:t>
            </a:r>
            <a:r>
              <a:rPr lang="ru" sz="1300" dirty="0">
                <a:solidFill>
                  <a:srgbClr val="000000"/>
                </a:solidFill>
              </a:rPr>
              <a:t> принимает делегат </a:t>
            </a:r>
            <a:r>
              <a:rPr lang="ru" sz="1300" b="1" dirty="0">
                <a:solidFill>
                  <a:srgbClr val="0D47A1"/>
                </a:solidFill>
              </a:rPr>
              <a:t>ThreadStart</a:t>
            </a:r>
            <a:r>
              <a:rPr lang="ru" sz="1300" dirty="0">
                <a:solidFill>
                  <a:srgbClr val="000000"/>
                </a:solidFill>
              </a:rPr>
              <a:t>: метод без параметров, который указывает, где должно начинаться выполнение.</a:t>
            </a:r>
          </a:p>
          <a:p>
            <a:pPr marL="85725" lvl="0">
              <a:spcBef>
                <a:spcPts val="400"/>
              </a:spcBef>
            </a:pPr>
            <a:r>
              <a:rPr lang="ru" sz="1000" dirty="0">
                <a:solidFill>
                  <a:srgbClr val="008000"/>
                </a:solidFill>
                <a:latin typeface="Consolas"/>
              </a:rPr>
              <a:t>// Начать новый поток, выполняющий WriteY()</a:t>
            </a:r>
            <a:br>
              <a:rPr lang="en-US" sz="1000" dirty="0">
                <a:solidFill>
                  <a:srgbClr val="000000"/>
                </a:solidFill>
                <a:latin typeface="Consolas"/>
              </a:rPr>
            </a:br>
            <a:r>
              <a:rPr lang="en-US" sz="1000" dirty="0">
                <a:solidFill>
                  <a:srgbClr val="2B91AF"/>
                </a:solidFill>
                <a:latin typeface="Consolas"/>
              </a:rPr>
              <a:t>Thread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t = </a:t>
            </a:r>
            <a:r>
              <a:rPr lang="ru" sz="10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Thread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(WriteY);</a:t>
            </a:r>
            <a:endParaRPr lang="ru" sz="1000" dirty="0">
              <a:solidFill>
                <a:srgbClr val="008000"/>
              </a:solidFill>
              <a:latin typeface="Consolas"/>
            </a:endParaRPr>
          </a:p>
          <a:p>
            <a:pPr marL="85725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000000"/>
                </a:solidFill>
                <a:latin typeface="Consolas"/>
              </a:rPr>
              <a:t>t.Start();</a:t>
            </a:r>
          </a:p>
          <a:p>
            <a:pPr marL="85725" lvl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008000"/>
                </a:solidFill>
                <a:latin typeface="Consolas"/>
              </a:rPr>
              <a:t>// Одновременно делать что-то в главном потоке</a:t>
            </a:r>
          </a:p>
          <a:p>
            <a:pPr marL="85725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ru" sz="10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ru" sz="10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ru" sz="1000" dirty="0">
                <a:solidFill>
                  <a:srgbClr val="000000"/>
                </a:solidFill>
                <a:latin typeface="Consolas"/>
              </a:rPr>
              <a:t> i = 0; i &lt; 1000; i++) </a:t>
            </a:r>
            <a:br>
              <a:rPr lang="ru" sz="1000" dirty="0">
                <a:solidFill>
                  <a:srgbClr val="000000"/>
                </a:solidFill>
                <a:latin typeface="Consolas"/>
              </a:rPr>
            </a:br>
            <a:r>
              <a:rPr lang="en-US" sz="1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Console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.Write(</a:t>
            </a:r>
            <a:r>
              <a:rPr lang="ru" sz="1000" b="1" dirty="0">
                <a:solidFill>
                  <a:srgbClr val="A31515"/>
                </a:solidFill>
                <a:latin typeface="Consolas"/>
              </a:rPr>
              <a:t>"x"</a:t>
            </a:r>
            <a:r>
              <a:rPr lang="ru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85725" lvl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WriteY() { </a:t>
            </a:r>
            <a:r>
              <a:rPr lang="ru" sz="10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ru" sz="10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ru" sz="10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ru" sz="1000" dirty="0">
                <a:solidFill>
                  <a:srgbClr val="000000"/>
                </a:solidFill>
                <a:latin typeface="Consolas"/>
              </a:rPr>
              <a:t> i = 0; i &lt; 1000; i++) </a:t>
            </a:r>
            <a:br>
              <a:rPr lang="ru" sz="1000" dirty="0">
                <a:solidFill>
                  <a:srgbClr val="000000"/>
                </a:solidFill>
                <a:latin typeface="Consolas"/>
              </a:rPr>
            </a:br>
            <a:r>
              <a:rPr lang="en-US" sz="1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Console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.Write(</a:t>
            </a:r>
            <a:r>
              <a:rPr lang="ru" sz="1000" b="1" dirty="0">
                <a:solidFill>
                  <a:srgbClr val="A31515"/>
                </a:solidFill>
                <a:latin typeface="Consolas"/>
              </a:rPr>
              <a:t>"y"</a:t>
            </a:r>
            <a:r>
              <a:rPr lang="ru" sz="1000" dirty="0">
                <a:solidFill>
                  <a:srgbClr val="000000"/>
                </a:solidFill>
                <a:latin typeface="Consolas"/>
              </a:rPr>
              <a:t>); }</a:t>
            </a:r>
          </a:p>
          <a:p>
            <a:pPr marL="85725" lvl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000" b="1" dirty="0">
                <a:solidFill>
                  <a:srgbClr val="424242"/>
                </a:solidFill>
              </a:rPr>
              <a:t>Типичный вывод: </a:t>
            </a:r>
            <a:r>
              <a:rPr lang="ru" sz="1000" dirty="0">
                <a:solidFill>
                  <a:srgbClr val="000000"/>
                </a:solidFill>
                <a:latin typeface="Consolas"/>
              </a:rPr>
              <a:t>xxxxxxxyyyyyyyyyyyyyxxx</a:t>
            </a:r>
            <a:br>
              <a:rPr lang="ru" sz="1000" dirty="0">
                <a:solidFill>
                  <a:srgbClr val="000000"/>
                </a:solidFill>
                <a:latin typeface="Consolas"/>
              </a:rPr>
            </a:br>
            <a:r>
              <a:rPr lang="ru" sz="1000" dirty="0">
                <a:solidFill>
                  <a:srgbClr val="000000"/>
                </a:solidFill>
                <a:latin typeface="Consolas"/>
              </a:rPr>
              <a:t>xxxxxxxxxxyyyyyyyyxxxxxxyyyy...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DF93AE-8C6A-0DA8-0498-9F9E51405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543" y="2828101"/>
            <a:ext cx="4293033" cy="1282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14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Многопоточная обработка | Создание потока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00" dirty="0">
              <a:solidFill>
                <a:srgbClr val="000000"/>
              </a:solidFill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482481" y="495285"/>
            <a:ext cx="8055000" cy="33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Главный поток создает новый поток </a:t>
            </a:r>
            <a:r>
              <a:rPr lang="ru" sz="1400" b="1" dirty="0">
                <a:solidFill>
                  <a:srgbClr val="0D47A1"/>
                </a:solidFill>
              </a:rPr>
              <a:t>t</a:t>
            </a:r>
            <a:r>
              <a:rPr lang="ru" sz="1400" dirty="0">
                <a:solidFill>
                  <a:srgbClr val="000000"/>
                </a:solidFill>
              </a:rPr>
              <a:t>, в котором запускает метод, многократно выводящий символ "y". В то же самое время главный поток многократно выводит символ "x".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На одноядерном процессоре</a:t>
            </a:r>
            <a:r>
              <a:rPr lang="ru" sz="1400" dirty="0">
                <a:solidFill>
                  <a:srgbClr val="000000"/>
                </a:solidFill>
              </a:rPr>
              <a:t> — ОС выделяет каждому потоку кванты времени (обычно 20 мс. в Windows) для эмуляции параллелизма, что дает повторяющиеся блоки вывода "x" и "y".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На многоядерной машине</a:t>
            </a:r>
            <a:r>
              <a:rPr lang="ru" sz="1400" dirty="0">
                <a:solidFill>
                  <a:srgbClr val="000000"/>
                </a:solidFill>
              </a:rPr>
              <a:t> — два потока могут выполняться по-настоящему параллельно (конкурируя с другими активными процессами).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Говорят, что поток </a:t>
            </a:r>
            <a:r>
              <a:rPr lang="ru" sz="1400" b="1" i="1" dirty="0">
                <a:solidFill>
                  <a:srgbClr val="1B5E20"/>
                </a:solidFill>
              </a:rPr>
              <a:t>вытесняется</a:t>
            </a:r>
            <a:r>
              <a:rPr lang="ru" sz="1400" dirty="0">
                <a:solidFill>
                  <a:srgbClr val="000000"/>
                </a:solidFill>
              </a:rPr>
              <a:t> в точках, где его выполнение пересекается с выполнением кода в другом потоке.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После запуска свойство </a:t>
            </a:r>
            <a:r>
              <a:rPr lang="ru" sz="1400" b="1" dirty="0">
                <a:solidFill>
                  <a:srgbClr val="0D47A1"/>
                </a:solidFill>
              </a:rPr>
              <a:t>IsAlive</a:t>
            </a:r>
            <a:r>
              <a:rPr lang="ru" sz="1400" dirty="0">
                <a:solidFill>
                  <a:srgbClr val="000000"/>
                </a:solidFill>
              </a:rPr>
              <a:t> потока возвращает </a:t>
            </a:r>
            <a:r>
              <a:rPr lang="ru" sz="1400" b="1" dirty="0">
                <a:solidFill>
                  <a:srgbClr val="0D47A1"/>
                </a:solidFill>
              </a:rPr>
              <a:t>true</a:t>
            </a:r>
            <a:r>
              <a:rPr lang="ru" sz="1400" dirty="0">
                <a:solidFill>
                  <a:srgbClr val="000000"/>
                </a:solidFill>
              </a:rPr>
              <a:t> до тех пор, пока не будет достигнута точка завершения. После завершения поток не может быть запущен повторно.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Каждый поток имеет свойство </a:t>
            </a:r>
            <a:r>
              <a:rPr lang="ru" sz="1400" b="1" dirty="0">
                <a:solidFill>
                  <a:srgbClr val="0D47A1"/>
                </a:solidFill>
              </a:rPr>
              <a:t>Name</a:t>
            </a:r>
            <a:r>
              <a:rPr lang="ru" sz="1400" dirty="0">
                <a:solidFill>
                  <a:srgbClr val="000000"/>
                </a:solidFill>
              </a:rPr>
              <a:t> для содействия отладке. Установить имя потока можно только один раз.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Статическое свойство </a:t>
            </a:r>
            <a:r>
              <a:rPr lang="ru" sz="1400" b="1" dirty="0">
                <a:solidFill>
                  <a:srgbClr val="0D47A1"/>
                </a:solidFill>
              </a:rPr>
              <a:t>Thread.CurrentThread</a:t>
            </a:r>
            <a:r>
              <a:rPr lang="ru" sz="1400" dirty="0">
                <a:solidFill>
                  <a:srgbClr val="000000"/>
                </a:solidFill>
              </a:rPr>
              <a:t> возвращает поток, выполняющийся в текущее время.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>
            <a:spLocks noGrp="1"/>
          </p:cNvSpPr>
          <p:nvPr>
            <p:ph type="title"/>
          </p:nvPr>
        </p:nvSpPr>
        <p:spPr>
          <a:xfrm>
            <a:off x="536713" y="323934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Join и Sleep</a:t>
            </a:r>
            <a:endParaRPr sz="2400" b="1" i="1" dirty="0">
              <a:solidFill>
                <a:srgbClr val="000000"/>
              </a:solidFill>
            </a:endParaRPr>
          </a:p>
        </p:txBody>
      </p:sp>
      <p:cxnSp>
        <p:nvCxnSpPr>
          <p:cNvPr id="137" name="Google Shape;137;p14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Многопоточная обработка | Join и Sleep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497980" y="874993"/>
            <a:ext cx="8055000" cy="33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С помощью вызова метода </a:t>
            </a:r>
            <a:r>
              <a:rPr lang="ru" sz="1400" b="1" dirty="0">
                <a:solidFill>
                  <a:srgbClr val="0D47A1"/>
                </a:solidFill>
              </a:rPr>
              <a:t>Join</a:t>
            </a:r>
            <a:r>
              <a:rPr lang="ru" sz="1400" dirty="0">
                <a:solidFill>
                  <a:srgbClr val="000000"/>
                </a:solidFill>
              </a:rPr>
              <a:t> можно организовать ожидание окончания другого потока:</a:t>
            </a:r>
          </a:p>
          <a:p>
            <a:pPr lvl="0" algn="just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 =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(Go);  t.Start();  t.Join();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При вызове </a:t>
            </a:r>
            <a:r>
              <a:rPr lang="ru" sz="1400" b="1" dirty="0">
                <a:solidFill>
                  <a:srgbClr val="0D47A1"/>
                </a:solidFill>
              </a:rPr>
              <a:t>Join</a:t>
            </a:r>
            <a:r>
              <a:rPr lang="ru" sz="1400" dirty="0">
                <a:solidFill>
                  <a:srgbClr val="000000"/>
                </a:solidFill>
              </a:rPr>
              <a:t> можно указывать тайм-аут в миллисекундах или в виде </a:t>
            </a:r>
            <a:r>
              <a:rPr lang="ru" sz="1400" b="1" dirty="0">
                <a:solidFill>
                  <a:srgbClr val="0D47A1"/>
                </a:solidFill>
              </a:rPr>
              <a:t>TimeSpan</a:t>
            </a:r>
            <a:r>
              <a:rPr lang="ru" sz="1400" dirty="0">
                <a:solidFill>
                  <a:srgbClr val="000000"/>
                </a:solidFill>
              </a:rPr>
              <a:t>. Метод возвращает </a:t>
            </a:r>
            <a:r>
              <a:rPr lang="ru" sz="1400" b="1" dirty="0">
                <a:solidFill>
                  <a:srgbClr val="0D47A1"/>
                </a:solidFill>
              </a:rPr>
              <a:t>true</a:t>
            </a:r>
            <a:r>
              <a:rPr lang="ru" sz="1400" dirty="0">
                <a:solidFill>
                  <a:srgbClr val="000000"/>
                </a:solidFill>
              </a:rPr>
              <a:t>, если поток завершен, или </a:t>
            </a:r>
            <a:r>
              <a:rPr lang="ru" sz="1400" b="1" dirty="0">
                <a:solidFill>
                  <a:srgbClr val="0D47A1"/>
                </a:solidFill>
              </a:rPr>
              <a:t>false</a:t>
            </a:r>
            <a:r>
              <a:rPr lang="ru" sz="1400" dirty="0">
                <a:solidFill>
                  <a:srgbClr val="000000"/>
                </a:solidFill>
              </a:rPr>
              <a:t>, если истекло время тайм-аута.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Метод </a:t>
            </a:r>
            <a:r>
              <a:rPr lang="ru" sz="1400" b="1" dirty="0">
                <a:solidFill>
                  <a:srgbClr val="0D47A1"/>
                </a:solidFill>
              </a:rPr>
              <a:t>Thread.Sleep</a:t>
            </a:r>
            <a:r>
              <a:rPr lang="ru" sz="1400" dirty="0">
                <a:solidFill>
                  <a:srgbClr val="000000"/>
                </a:solidFill>
              </a:rPr>
              <a:t> приостанавливает текущий поток на заданный период:</a:t>
            </a:r>
          </a:p>
          <a:p>
            <a:pPr lvl="0" indent="44926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.Sleep(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TimeSpan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.FromHours(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));  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.Sleep(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pPr marL="735012" lvl="0" indent="-28575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Thread.Sleep(0)</a:t>
            </a:r>
            <a:r>
              <a:rPr lang="ru" sz="1400" dirty="0">
                <a:solidFill>
                  <a:srgbClr val="000000"/>
                </a:solidFill>
              </a:rPr>
              <a:t> — немедленно прекращает текущий квант времени потока, добровольно передавая контроль над ЦП другим потокам.</a:t>
            </a:r>
          </a:p>
          <a:p>
            <a:pPr marL="735012" lvl="0" indent="-28575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Thread.Yield()</a:t>
            </a:r>
            <a:r>
              <a:rPr lang="ru" sz="1400" dirty="0">
                <a:solidFill>
                  <a:srgbClr val="000000"/>
                </a:solidFill>
              </a:rPr>
              <a:t> — делает то же самое, но уступает контроль только потокам на том же самом процессоре.</a:t>
            </a:r>
          </a:p>
          <a:p>
            <a:pPr marL="457200" lvl="0" indent="-355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На время ожидания </a:t>
            </a:r>
            <a:r>
              <a:rPr lang="ru" sz="1400" b="1" dirty="0">
                <a:solidFill>
                  <a:srgbClr val="0D47A1"/>
                </a:solidFill>
              </a:rPr>
              <a:t>Sleep</a:t>
            </a:r>
            <a:r>
              <a:rPr lang="ru" sz="1400" dirty="0">
                <a:solidFill>
                  <a:srgbClr val="000000"/>
                </a:solidFill>
              </a:rPr>
              <a:t> или </a:t>
            </a:r>
            <a:r>
              <a:rPr lang="ru" sz="1400" b="1" dirty="0">
                <a:solidFill>
                  <a:srgbClr val="0D47A1"/>
                </a:solidFill>
              </a:rPr>
              <a:t>Join</a:t>
            </a:r>
            <a:r>
              <a:rPr lang="ru" sz="1400" dirty="0">
                <a:solidFill>
                  <a:srgbClr val="000000"/>
                </a:solidFill>
              </a:rPr>
              <a:t> поток </a:t>
            </a:r>
            <a:r>
              <a:rPr lang="ru" sz="1400" b="1" i="1" dirty="0">
                <a:solidFill>
                  <a:srgbClr val="1B5E20"/>
                </a:solidFill>
              </a:rPr>
              <a:t>блокируется</a:t>
            </a:r>
            <a:r>
              <a:rPr lang="ru" sz="1400" dirty="0">
                <a:solidFill>
                  <a:srgbClr val="000000"/>
                </a:solidFill>
              </a:rPr>
              <a:t> — он немедленно уступает свой квант процессорного времени и далее не потребляет процессорное время, пока удовлетворяется условие блокировки.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36713" y="354931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Блокирование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Многопоточная обработка | Блокирование</a:t>
            </a: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21227" y="975732"/>
            <a:ext cx="8055000" cy="29220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Поток считается </a:t>
            </a:r>
            <a:r>
              <a:rPr lang="ru" sz="1400" b="1" i="1" dirty="0">
                <a:solidFill>
                  <a:srgbClr val="1B5E20"/>
                </a:solidFill>
              </a:rPr>
              <a:t>заблокированным</a:t>
            </a:r>
            <a:r>
              <a:rPr lang="ru" sz="1400" dirty="0">
                <a:solidFill>
                  <a:srgbClr val="000000"/>
                </a:solidFill>
              </a:rPr>
              <a:t>, если его выполнение приостановлено по некоторой причине, такой как вызов метода </a:t>
            </a:r>
            <a:r>
              <a:rPr lang="ru" sz="1400" b="1" dirty="0">
                <a:solidFill>
                  <a:srgbClr val="0D47A1"/>
                </a:solidFill>
              </a:rPr>
              <a:t>Sleep</a:t>
            </a:r>
            <a:r>
              <a:rPr lang="ru" sz="1400" dirty="0">
                <a:solidFill>
                  <a:srgbClr val="000000"/>
                </a:solidFill>
              </a:rPr>
              <a:t> или ожидание завершения другого потока через </a:t>
            </a:r>
            <a:r>
              <a:rPr lang="ru" sz="1400" b="1" dirty="0">
                <a:solidFill>
                  <a:srgbClr val="0D47A1"/>
                </a:solidFill>
              </a:rPr>
              <a:t>Join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Заблокированный поток немедленно </a:t>
            </a:r>
            <a:r>
              <a:rPr lang="ru" sz="1400" i="1" dirty="0">
                <a:solidFill>
                  <a:srgbClr val="000000"/>
                </a:solidFill>
              </a:rPr>
              <a:t>уступает</a:t>
            </a:r>
            <a:r>
              <a:rPr lang="ru" sz="1400" dirty="0">
                <a:solidFill>
                  <a:srgbClr val="000000"/>
                </a:solidFill>
              </a:rPr>
              <a:t> свой квант процессорного времени и далее не потребляет процессорное время, пока удовлетворяется условие блокировки.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Проверить, заблокирован ли поток, можно с помощью свойства </a:t>
            </a:r>
            <a:r>
              <a:rPr lang="ru" sz="1400" b="1" dirty="0">
                <a:solidFill>
                  <a:srgbClr val="0D47A1"/>
                </a:solidFill>
              </a:rPr>
              <a:t>ThreadState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449263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blocked = (someThread.ThreadState &amp;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ThreadState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.WaitSleepJoin) != 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Когда поток блокируется или деблокируется, ОС производит </a:t>
            </a:r>
            <a:r>
              <a:rPr lang="ru" sz="1400" i="1" dirty="0">
                <a:solidFill>
                  <a:srgbClr val="000000"/>
                </a:solidFill>
              </a:rPr>
              <a:t>переключение контекста</a:t>
            </a:r>
            <a:r>
              <a:rPr lang="ru" sz="1400" dirty="0">
                <a:solidFill>
                  <a:srgbClr val="000000"/>
                </a:solidFill>
              </a:rPr>
              <a:t>. С ним связаны небольшие накладные расходы, обычно </a:t>
            </a:r>
            <a:r>
              <a:rPr lang="ru" sz="1400" i="1" dirty="0">
                <a:solidFill>
                  <a:srgbClr val="000000"/>
                </a:solidFill>
              </a:rPr>
              <a:t>одна–две микросекунды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13465" y="424673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ThreadState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Многопоточная обработка | ThreadState</a:t>
            </a: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05729" y="998980"/>
            <a:ext cx="8055000" cy="3402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Свойство </a:t>
            </a:r>
            <a:r>
              <a:rPr lang="ru" sz="1400" b="1" dirty="0">
                <a:solidFill>
                  <a:srgbClr val="0D47A1"/>
                </a:solidFill>
              </a:rPr>
              <a:t>ThreadState</a:t>
            </a:r>
            <a:r>
              <a:rPr lang="ru" sz="1400" dirty="0">
                <a:solidFill>
                  <a:srgbClr val="000000"/>
                </a:solidFill>
              </a:rPr>
              <a:t> является перечислением флагов, комбинирующим три «уровня» данных в побитовой манере. Большинство значений избыточны или устаревшие.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Следующий расширяющий метод ограничивает </a:t>
            </a:r>
            <a:r>
              <a:rPr lang="ru" sz="1400" b="1" dirty="0">
                <a:solidFill>
                  <a:srgbClr val="0D47A1"/>
                </a:solidFill>
              </a:rPr>
              <a:t>ThreadState</a:t>
            </a:r>
            <a:r>
              <a:rPr lang="ru" sz="1400" dirty="0">
                <a:solidFill>
                  <a:srgbClr val="000000"/>
                </a:solidFill>
              </a:rPr>
              <a:t> одним из четырех полезных значений: </a:t>
            </a:r>
            <a:r>
              <a:rPr lang="ru" sz="1400" b="1" dirty="0">
                <a:solidFill>
                  <a:srgbClr val="0D47A1"/>
                </a:solidFill>
              </a:rPr>
              <a:t>Unstarted</a:t>
            </a:r>
            <a:r>
              <a:rPr lang="ru" sz="1400" dirty="0">
                <a:solidFill>
                  <a:srgbClr val="000000"/>
                </a:solidFill>
              </a:rPr>
              <a:t>, </a:t>
            </a:r>
            <a:r>
              <a:rPr lang="ru" sz="1400" b="1" dirty="0">
                <a:solidFill>
                  <a:srgbClr val="0D47A1"/>
                </a:solidFill>
              </a:rPr>
              <a:t>Running</a:t>
            </a:r>
            <a:r>
              <a:rPr lang="ru" sz="1400" dirty="0">
                <a:solidFill>
                  <a:srgbClr val="000000"/>
                </a:solidFill>
              </a:rPr>
              <a:t>, </a:t>
            </a:r>
            <a:r>
              <a:rPr lang="ru" sz="1400" b="1" dirty="0">
                <a:solidFill>
                  <a:srgbClr val="0D47A1"/>
                </a:solidFill>
              </a:rPr>
              <a:t>WaitSleepJoin</a:t>
            </a:r>
            <a:r>
              <a:rPr lang="ru" sz="1400" dirty="0">
                <a:solidFill>
                  <a:srgbClr val="000000"/>
                </a:solidFill>
              </a:rPr>
              <a:t> и </a:t>
            </a:r>
            <a:r>
              <a:rPr lang="ru" sz="1400" b="1" dirty="0">
                <a:solidFill>
                  <a:srgbClr val="0D47A1"/>
                </a:solidFill>
              </a:rPr>
              <a:t>Stopped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449263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ThreadState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Simplify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ThreadState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ts)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ts &amp; (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ThreadState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.Unstarted |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          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ThreadState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.WaitSleepJoin |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          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ThreadState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.Stopped);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Свойство </a:t>
            </a:r>
            <a:r>
              <a:rPr lang="ru" sz="1400" b="1" dirty="0">
                <a:solidFill>
                  <a:srgbClr val="0D47A1"/>
                </a:solidFill>
              </a:rPr>
              <a:t>ThreadState</a:t>
            </a:r>
            <a:r>
              <a:rPr lang="ru" sz="1400" dirty="0">
                <a:solidFill>
                  <a:srgbClr val="000000"/>
                </a:solidFill>
              </a:rPr>
              <a:t> удобно для </a:t>
            </a:r>
            <a:r>
              <a:rPr lang="ru" sz="1400" i="1" dirty="0">
                <a:solidFill>
                  <a:srgbClr val="000000"/>
                </a:solidFill>
              </a:rPr>
              <a:t>диагностических</a:t>
            </a:r>
            <a:r>
              <a:rPr lang="ru" sz="1400" dirty="0">
                <a:solidFill>
                  <a:srgbClr val="000000"/>
                </a:solidFill>
              </a:rPr>
              <a:t> целей, но непригодно для синхронизации, т.к. состояние потока может измениться в промежутке между проверкой </a:t>
            </a:r>
            <a:r>
              <a:rPr lang="ru" sz="1400" b="1" dirty="0">
                <a:solidFill>
                  <a:srgbClr val="0D47A1"/>
                </a:solidFill>
              </a:rPr>
              <a:t>ThreadState</a:t>
            </a:r>
            <a:r>
              <a:rPr lang="ru" sz="1400" dirty="0">
                <a:solidFill>
                  <a:srgbClr val="000000"/>
                </a:solidFill>
              </a:rPr>
              <a:t> и обработкой данной информации.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157003" y="238693"/>
            <a:ext cx="8824263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Интенсивный ввод-вывод или </a:t>
            </a:r>
            <a:br>
              <a:rPr lang="ru" sz="2400" b="1" dirty="0">
                <a:solidFill>
                  <a:srgbClr val="000000"/>
                </a:solidFill>
              </a:rPr>
            </a:br>
            <a:r>
              <a:rPr lang="ru" sz="2400" b="1" dirty="0">
                <a:solidFill>
                  <a:srgbClr val="000000"/>
                </a:solidFill>
              </a:rPr>
              <a:t>интенсивные вычисления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Интенсивный ввод-вывод или интенсивные вычисления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36726" y="1122966"/>
            <a:ext cx="8055000" cy="3123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Операция с </a:t>
            </a:r>
            <a:r>
              <a:rPr lang="ru" sz="1400" b="1" i="1" dirty="0">
                <a:solidFill>
                  <a:srgbClr val="1B5E20"/>
                </a:solidFill>
              </a:rPr>
              <a:t>интенсивным вводом-выводом</a:t>
            </a:r>
            <a:r>
              <a:rPr lang="ru" sz="1400" dirty="0">
                <a:solidFill>
                  <a:srgbClr val="000000"/>
                </a:solidFill>
              </a:rPr>
              <a:t> (I/O-bound) — большую часть времени тратит на ожидание. Примеры: загрузка веб-страницы, </a:t>
            </a:r>
            <a:r>
              <a:rPr lang="ru" sz="1400" b="1" dirty="0">
                <a:solidFill>
                  <a:srgbClr val="0D47A1"/>
                </a:solidFill>
              </a:rPr>
              <a:t>Console.ReadLine</a:t>
            </a:r>
            <a:r>
              <a:rPr lang="ru" sz="1400" dirty="0">
                <a:solidFill>
                  <a:srgbClr val="000000"/>
                </a:solidFill>
              </a:rPr>
              <a:t>, </a:t>
            </a:r>
            <a:r>
              <a:rPr lang="ru" sz="1400" b="1" dirty="0">
                <a:solidFill>
                  <a:srgbClr val="0D47A1"/>
                </a:solidFill>
              </a:rPr>
              <a:t>Thread.Sleep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</a:p>
          <a:p>
            <a:pPr marL="0" lvl="0" indent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Операция с </a:t>
            </a:r>
            <a:r>
              <a:rPr lang="ru" sz="1400" b="1" i="1" dirty="0">
                <a:solidFill>
                  <a:srgbClr val="1B5E20"/>
                </a:solidFill>
              </a:rPr>
              <a:t>интенсивными вычислениями</a:t>
            </a:r>
            <a:r>
              <a:rPr lang="ru" sz="1400" dirty="0">
                <a:solidFill>
                  <a:srgbClr val="000000"/>
                </a:solidFill>
              </a:rPr>
              <a:t> (CPU-bound) — большую часть времени затрачивает на вычисления с привлечением ЦП.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Операция с интенсивным вводом-выводом работает одним из двух способов:</a:t>
            </a:r>
          </a:p>
          <a:p>
            <a:pPr marL="720725" lvl="0" indent="-271463" algn="just" defTabSz="8064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Синхронно</a:t>
            </a:r>
            <a:r>
              <a:rPr lang="ru" sz="1400" dirty="0">
                <a:solidFill>
                  <a:srgbClr val="000000"/>
                </a:solidFill>
              </a:rPr>
              <a:t> ожидает завершения операции в текущем потоке (</a:t>
            </a:r>
            <a:r>
              <a:rPr lang="ru" sz="1400" b="1" dirty="0">
                <a:solidFill>
                  <a:srgbClr val="0D47A1"/>
                </a:solidFill>
              </a:rPr>
              <a:t>Console.ReadLine</a:t>
            </a:r>
            <a:r>
              <a:rPr lang="ru" sz="1400" dirty="0">
                <a:solidFill>
                  <a:srgbClr val="000000"/>
                </a:solidFill>
              </a:rPr>
              <a:t>, </a:t>
            </a:r>
            <a:r>
              <a:rPr lang="ru" sz="1400" b="1" dirty="0">
                <a:solidFill>
                  <a:srgbClr val="0D47A1"/>
                </a:solidFill>
              </a:rPr>
              <a:t>Thread.Sleep</a:t>
            </a:r>
            <a:r>
              <a:rPr lang="ru" sz="1400" dirty="0">
                <a:solidFill>
                  <a:srgbClr val="000000"/>
                </a:solidFill>
              </a:rPr>
              <a:t>, </a:t>
            </a:r>
            <a:r>
              <a:rPr lang="ru" sz="1400" b="1" dirty="0">
                <a:solidFill>
                  <a:srgbClr val="0D47A1"/>
                </a:solidFill>
              </a:rPr>
              <a:t>Thread.Join</a:t>
            </a:r>
            <a:r>
              <a:rPr lang="ru" sz="1400" dirty="0">
                <a:solidFill>
                  <a:srgbClr val="000000"/>
                </a:solidFill>
              </a:rPr>
              <a:t>).</a:t>
            </a:r>
          </a:p>
          <a:p>
            <a:pPr marL="720725" lvl="0" indent="-271463" algn="just" defTabSz="8064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Асинхронно</a:t>
            </a:r>
            <a:r>
              <a:rPr lang="ru" sz="1400" dirty="0">
                <a:solidFill>
                  <a:srgbClr val="000000"/>
                </a:solidFill>
              </a:rPr>
              <a:t> — инициирует обратный вызов, когда операция завершается спустя какое-то время.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Синхронные I/O-операции большую часть времени тратят на </a:t>
            </a:r>
            <a:r>
              <a:rPr lang="ru" sz="1400" b="1" i="1" dirty="0">
                <a:solidFill>
                  <a:srgbClr val="1B5E20"/>
                </a:solidFill>
              </a:rPr>
              <a:t>блокирование</a:t>
            </a:r>
            <a:r>
              <a:rPr lang="ru" sz="1400" dirty="0">
                <a:solidFill>
                  <a:srgbClr val="000000"/>
                </a:solidFill>
              </a:rPr>
              <a:t> потока.</a:t>
            </a:r>
            <a:endParaRPr lang="en-US" sz="12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21215" y="393676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Блокирование или зацикливание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Блокирование или зацикливание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482482" y="1006729"/>
            <a:ext cx="8055000" cy="3123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Альтернатива блокированию — </a:t>
            </a:r>
            <a:r>
              <a:rPr lang="ru" sz="1400" b="1" i="1" dirty="0">
                <a:solidFill>
                  <a:srgbClr val="1B5E20"/>
                </a:solidFill>
              </a:rPr>
              <a:t>зацикливание</a:t>
            </a:r>
            <a:r>
              <a:rPr lang="ru" sz="1400" dirty="0">
                <a:solidFill>
                  <a:srgbClr val="000000"/>
                </a:solidFill>
              </a:rPr>
              <a:t> (spinning) потока: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200" dirty="0" err="1">
                <a:solidFill>
                  <a:srgbClr val="2B91AF"/>
                </a:solidFill>
                <a:latin typeface="Consolas"/>
                <a:cs typeface="Consolas"/>
              </a:rPr>
              <a:t>DateTime</a:t>
            </a:r>
            <a:r>
              <a:rPr lang="en-US" sz="1200" dirty="0" err="1">
                <a:solidFill>
                  <a:srgbClr val="000000"/>
                </a:solidFill>
                <a:latin typeface="Consolas"/>
                <a:cs typeface="Consolas"/>
              </a:rPr>
              <a:t>.Now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&lt; </a:t>
            </a:r>
            <a:r>
              <a:rPr lang="en-US" sz="1200" dirty="0" err="1">
                <a:solidFill>
                  <a:srgbClr val="000000"/>
                </a:solidFill>
                <a:latin typeface="Consolas"/>
                <a:cs typeface="Consolas"/>
              </a:rPr>
              <a:t>nextStartTime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); 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зацикливание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-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неэкономно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!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Это очень неэкономное расходование ЦП: среда CLR и ОС предполагают, что поток выполняет важные вычисления. По сути, код </a:t>
            </a:r>
            <a:r>
              <a:rPr lang="ru" sz="1400" i="1" dirty="0">
                <a:solidFill>
                  <a:srgbClr val="000000"/>
                </a:solidFill>
              </a:rPr>
              <a:t>I/O-bound</a:t>
            </a:r>
            <a:r>
              <a:rPr lang="ru" sz="1400" dirty="0">
                <a:solidFill>
                  <a:srgbClr val="000000"/>
                </a:solidFill>
              </a:rPr>
              <a:t> превращается в </a:t>
            </a:r>
            <a:r>
              <a:rPr lang="ru" sz="1400" i="1" dirty="0">
                <a:solidFill>
                  <a:srgbClr val="000000"/>
                </a:solidFill>
              </a:rPr>
              <a:t>CPU-boun</a:t>
            </a:r>
            <a:r>
              <a:rPr lang="ru" sz="1400" dirty="0">
                <a:solidFill>
                  <a:srgbClr val="000000"/>
                </a:solidFill>
              </a:rPr>
              <a:t>d.</a:t>
            </a:r>
          </a:p>
          <a:p>
            <a:pPr marL="0" lvl="0" indent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400" b="1" dirty="0">
                <a:solidFill>
                  <a:srgbClr val="000000"/>
                </a:solidFill>
              </a:rPr>
              <a:t>Нюансы:</a:t>
            </a:r>
          </a:p>
          <a:p>
            <a:pPr marL="457200" lvl="0" indent="-3556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Кратковременное зацикливание</a:t>
            </a:r>
            <a:r>
              <a:rPr lang="ru" sz="1400" dirty="0">
                <a:solidFill>
                  <a:srgbClr val="000000"/>
                </a:solidFill>
              </a:rPr>
              <a:t> может быть эффективным, когда условие удовлетворяется за микросекунды — избегает накладных расходов переключения контекста. .NET предлагает </a:t>
            </a:r>
            <a:r>
              <a:rPr lang="ru" sz="1400" b="1" dirty="0">
                <a:solidFill>
                  <a:srgbClr val="0D47A1"/>
                </a:solidFill>
              </a:rPr>
              <a:t>SpinLock</a:t>
            </a:r>
            <a:r>
              <a:rPr lang="ru" sz="1400" dirty="0">
                <a:solidFill>
                  <a:srgbClr val="000000"/>
                </a:solidFill>
              </a:rPr>
              <a:t> и </a:t>
            </a:r>
            <a:r>
              <a:rPr lang="ru" sz="1400" b="1" dirty="0">
                <a:solidFill>
                  <a:srgbClr val="0D47A1"/>
                </a:solidFill>
              </a:rPr>
              <a:t>SpinWait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</a:p>
          <a:p>
            <a:pPr marL="457200" lvl="0" indent="-3556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Затраты на блокирование не нулевые</a:t>
            </a:r>
            <a:r>
              <a:rPr lang="ru" sz="1400" dirty="0">
                <a:solidFill>
                  <a:srgbClr val="000000"/>
                </a:solidFill>
              </a:rPr>
              <a:t>: каждый поток связывает ~1 МБ памяти. Для программ с сотнями параллельных I/O-операций лучше использовать подход на основе обратных вызовов (асинхронные шаблоны).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36713" y="339433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Локальное или разделяемое состояние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Локальное или разделяемое состояние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36726" y="975732"/>
            <a:ext cx="8055000" cy="302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Среда CLR назначает каждому потоку собственный </a:t>
            </a:r>
            <a:r>
              <a:rPr lang="ru" sz="1400" b="1" i="1" dirty="0">
                <a:solidFill>
                  <a:srgbClr val="1B5E20"/>
                </a:solidFill>
              </a:rPr>
              <a:t>стек</a:t>
            </a:r>
            <a:r>
              <a:rPr lang="ru" sz="1400" dirty="0">
                <a:solidFill>
                  <a:srgbClr val="000000"/>
                </a:solidFill>
              </a:rPr>
              <a:t> в памяти, так что локальные переменные хранятся отдельно.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(Go).Start(); 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Вызвать Go в новом потоке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Go();                    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Вызвать Go в главном потоке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Go()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Объявить и использовать локальную переменную cycles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cycles = 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cycles &lt; 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cycles++)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 (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'?'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В стеке каждого потока создается отдельная копия переменной </a:t>
            </a:r>
            <a:r>
              <a:rPr lang="ru" sz="1400" b="1" dirty="0">
                <a:solidFill>
                  <a:srgbClr val="0D47A1"/>
                </a:solidFill>
              </a:rPr>
              <a:t>cycles</a:t>
            </a:r>
            <a:r>
              <a:rPr lang="ru" sz="1400" dirty="0">
                <a:solidFill>
                  <a:srgbClr val="000000"/>
                </a:solidFill>
              </a:rPr>
              <a:t>, так что вывод предсказуемо содержит десять знаков вопроса.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Потоки </a:t>
            </a:r>
            <a:r>
              <a:rPr lang="ru" sz="1400" b="1" i="1" dirty="0">
                <a:solidFill>
                  <a:srgbClr val="1B5E20"/>
                </a:solidFill>
              </a:rPr>
              <a:t>разделяют</a:t>
            </a:r>
            <a:r>
              <a:rPr lang="ru" sz="1400" dirty="0">
                <a:solidFill>
                  <a:srgbClr val="000000"/>
                </a:solidFill>
              </a:rPr>
              <a:t> данные, если они имеют общую ссылку на один и тот же экземпляр.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Локальное или разделяемое состояние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490230" y="448791"/>
            <a:ext cx="8250813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Оба потока разделяют переменную </a:t>
            </a:r>
            <a:r>
              <a:rPr lang="ru" sz="1400" b="1" dirty="0">
                <a:solidFill>
                  <a:srgbClr val="0D47A1"/>
                </a:solidFill>
              </a:rPr>
              <a:t>_done</a:t>
            </a:r>
            <a:r>
              <a:rPr lang="ru" sz="1400" dirty="0">
                <a:solidFill>
                  <a:srgbClr val="000000"/>
                </a:solidFill>
              </a:rPr>
              <a:t>, поэтому слово “Done” выводится один раз. Однако двукратный вывод возможен (хотя и маловероятен) — это проблема потокобезопасности: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_done =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(Go).Start();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Go();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Go()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(!_done) { _done =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;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.WriteLine (</a:t>
            </a:r>
            <a:r>
              <a:rPr lang="en-US" sz="1100" dirty="0">
                <a:solidFill>
                  <a:srgbClr val="A31515"/>
                </a:solidFill>
                <a:latin typeface="Consolas"/>
                <a:cs typeface="Consolas"/>
              </a:rPr>
              <a:t>"Done"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); 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101600" lv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5E20"/>
              </a:buClr>
              <a:buSzPts val="1400"/>
            </a:pPr>
            <a:r>
              <a:rPr lang="ru" sz="1400" dirty="0">
                <a:solidFill>
                  <a:srgbClr val="000000"/>
                </a:solidFill>
              </a:rPr>
              <a:t>Локальные переменные, </a:t>
            </a:r>
            <a:r>
              <a:rPr lang="ru" sz="1400" i="1" dirty="0">
                <a:solidFill>
                  <a:srgbClr val="000000"/>
                </a:solidFill>
              </a:rPr>
              <a:t>захваченные лямбда-выражением</a:t>
            </a:r>
            <a:r>
              <a:rPr lang="ru" sz="1400" dirty="0">
                <a:solidFill>
                  <a:srgbClr val="000000"/>
                </a:solidFill>
              </a:rPr>
              <a:t>, тоже могут быть разделяемыми: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done =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ThreadStart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action = () =&gt;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(!done) { done =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;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.WriteLine (</a:t>
            </a:r>
            <a:r>
              <a:rPr lang="en-US" sz="1100" dirty="0">
                <a:solidFill>
                  <a:srgbClr val="A31515"/>
                </a:solidFill>
                <a:latin typeface="Consolas"/>
                <a:cs typeface="Consolas"/>
              </a:rPr>
              <a:t>"Done"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); 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(action).Start();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action();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Line"/>
          <p:cNvCxnSpPr/>
          <p:nvPr/>
        </p:nvCxnSpPr>
        <p:spPr>
          <a:xfrm rot="10800000" flipH="1">
            <a:off x="270580" y="4363037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Локальное или разделяемое состояние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44474" y="394546"/>
            <a:ext cx="8055000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5E20"/>
              </a:buClr>
              <a:buSzPts val="1400"/>
            </a:pPr>
            <a:r>
              <a:rPr lang="ru" sz="1400" b="1" dirty="0">
                <a:solidFill>
                  <a:srgbClr val="000000"/>
                </a:solidFill>
              </a:rPr>
              <a:t>Поля экземпляра</a:t>
            </a:r>
            <a:r>
              <a:rPr lang="ru" sz="1400" dirty="0">
                <a:solidFill>
                  <a:srgbClr val="000000"/>
                </a:solidFill>
              </a:rPr>
              <a:t> — метод вызывается на одном экземпляре из разных потоков: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tt =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ThreadTest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();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(tt.Go).Start();  tt.Go();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ThreadTest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_done;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Go() 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(!_done) { _done =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;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.WriteLine (</a:t>
            </a:r>
            <a:r>
              <a:rPr lang="en-US" sz="1100" dirty="0">
                <a:solidFill>
                  <a:srgbClr val="A31515"/>
                </a:solidFill>
                <a:latin typeface="Consolas"/>
                <a:cs typeface="Consolas"/>
              </a:rPr>
              <a:t>"Done"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); 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lv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5E20"/>
              </a:buClr>
              <a:buSzPts val="1400"/>
            </a:pPr>
            <a:br>
              <a:rPr lang="ru" sz="1400" b="1" dirty="0">
                <a:solidFill>
                  <a:srgbClr val="000000"/>
                </a:solidFill>
              </a:rPr>
            </a:br>
            <a:r>
              <a:rPr lang="ru" sz="1400" b="1" dirty="0">
                <a:solidFill>
                  <a:srgbClr val="000000"/>
                </a:solidFill>
              </a:rPr>
              <a:t>Статические поля</a:t>
            </a:r>
            <a:r>
              <a:rPr lang="ru" sz="1400" dirty="0">
                <a:solidFill>
                  <a:srgbClr val="000000"/>
                </a:solidFill>
              </a:rPr>
              <a:t> — разделяются между всеми потоками в домене приложения: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ThreadTest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_done;  </a:t>
            </a:r>
            <a:r>
              <a:rPr lang="en-US" sz="1100" dirty="0">
                <a:solidFill>
                  <a:srgbClr val="008000"/>
                </a:solidFill>
                <a:latin typeface="Consolas"/>
                <a:cs typeface="Consolas"/>
              </a:rPr>
              <a:t>// разделяется между всеми потоками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Main() {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(Go).Start(); Go(); 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Go() 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(!_done) { _done =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;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.WriteLine (</a:t>
            </a:r>
            <a:r>
              <a:rPr lang="en-US" sz="1100" dirty="0">
                <a:solidFill>
                  <a:srgbClr val="A31515"/>
                </a:solidFill>
                <a:latin typeface="Consolas"/>
                <a:cs typeface="Consolas"/>
              </a:rPr>
              <a:t>"Done"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); 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67710" y="401426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Блокировка и безопасность потоков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Блокировка и безопасность потоков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36726" y="1099719"/>
            <a:ext cx="8055000" cy="2945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Исправить пример можно, получив </a:t>
            </a:r>
            <a:r>
              <a:rPr lang="ru" sz="1400" b="1" i="1" dirty="0">
                <a:solidFill>
                  <a:srgbClr val="1B5E20"/>
                </a:solidFill>
              </a:rPr>
              <a:t>монопольную блокировку</a:t>
            </a:r>
            <a:r>
              <a:rPr lang="ru" sz="1400" dirty="0">
                <a:solidFill>
                  <a:srgbClr val="000000"/>
                </a:solidFill>
              </a:rPr>
              <a:t> на период чтения и записи разделяемого поля. Для этого в C# предусмотрен оператор </a:t>
            </a:r>
            <a:r>
              <a:rPr lang="ru" sz="1400" b="1" dirty="0">
                <a:solidFill>
                  <a:srgbClr val="0D47A1"/>
                </a:solidFill>
              </a:rPr>
              <a:t>lock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ThreadSafe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_done;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readonly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_locker =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();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Main() 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(Go).Start();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Go();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Go() 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lock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(_locker) 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(!_done) {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.WriteLine (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"Done"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); _done =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Блокировка и безопасность потоков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52224" y="828499"/>
            <a:ext cx="8055000" cy="3146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Оператор </a:t>
            </a:r>
            <a:r>
              <a:rPr lang="ru" sz="1400" b="1" dirty="0">
                <a:solidFill>
                  <a:srgbClr val="0D47A1"/>
                </a:solidFill>
              </a:rPr>
              <a:t>lock</a:t>
            </a:r>
            <a:r>
              <a:rPr lang="ru" sz="1400" dirty="0">
                <a:solidFill>
                  <a:srgbClr val="000000"/>
                </a:solidFill>
              </a:rPr>
              <a:t> — </a:t>
            </a:r>
            <a:r>
              <a:rPr lang="ru" sz="1400" b="1" i="1" dirty="0">
                <a:solidFill>
                  <a:srgbClr val="1B5E20"/>
                </a:solidFill>
              </a:rPr>
              <a:t>синтаксический сахар</a:t>
            </a:r>
            <a:r>
              <a:rPr lang="ru" sz="1400" dirty="0">
                <a:solidFill>
                  <a:srgbClr val="000000"/>
                </a:solidFill>
              </a:rPr>
              <a:t> для </a:t>
            </a:r>
            <a:r>
              <a:rPr lang="ru" sz="1400" b="1" dirty="0">
                <a:solidFill>
                  <a:srgbClr val="0D47A1"/>
                </a:solidFill>
              </a:rPr>
              <a:t>Monitor.Enter</a:t>
            </a:r>
            <a:r>
              <a:rPr lang="ru" sz="1400" dirty="0">
                <a:solidFill>
                  <a:srgbClr val="000000"/>
                </a:solidFill>
              </a:rPr>
              <a:t> / </a:t>
            </a:r>
            <a:r>
              <a:rPr lang="ru" sz="1400" b="1" dirty="0">
                <a:solidFill>
                  <a:srgbClr val="0D47A1"/>
                </a:solidFill>
              </a:rPr>
              <a:t>Monitor.Exit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lock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(_locker) { ...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Эквивалентно: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Monitor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.Enter(_locker);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try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{ ...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finally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{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Monitor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.Exit(_locker); }</a:t>
            </a:r>
          </a:p>
          <a:p>
            <a:pPr marL="449263" lvl="0" indent="-363538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Внутри CLR захват блокировки реализован через атомарную инструкцию </a:t>
            </a:r>
            <a:r>
              <a:rPr lang="ru" sz="1400" b="1" dirty="0">
                <a:solidFill>
                  <a:srgbClr val="1B5E20"/>
                </a:solidFill>
              </a:rPr>
              <a:t>CAS</a:t>
            </a:r>
            <a:r>
              <a:rPr lang="ru" sz="1400" dirty="0">
                <a:solidFill>
                  <a:srgbClr val="000000"/>
                </a:solidFill>
              </a:rPr>
              <a:t> (Compare-And-Swap, </a:t>
            </a:r>
            <a:r>
              <a:rPr lang="ru" sz="1400" b="1" dirty="0">
                <a:solidFill>
                  <a:srgbClr val="0D47A1"/>
                </a:solidFill>
              </a:rPr>
              <a:t>cmpxchg</a:t>
            </a:r>
            <a:r>
              <a:rPr lang="ru" sz="1400" dirty="0">
                <a:solidFill>
                  <a:srgbClr val="000000"/>
                </a:solidFill>
              </a:rPr>
              <a:t> на x86). Если CAS не удался — кратковременное зацикливание (spinning), затем эскалация до объекта ядра ОС.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Когда два потока соперничают за блокировку, один </a:t>
            </a:r>
            <a:r>
              <a:rPr lang="ru" sz="1400" i="1" dirty="0">
                <a:solidFill>
                  <a:srgbClr val="000000"/>
                </a:solidFill>
              </a:rPr>
              <a:t>ожидает</a:t>
            </a:r>
            <a:r>
              <a:rPr lang="ru" sz="1400" dirty="0">
                <a:solidFill>
                  <a:srgbClr val="000000"/>
                </a:solidFill>
              </a:rPr>
              <a:t>, пока она не станет доступной. Гарантируется, что только один поток может войти в блок кода за раз.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Код, защищённый таким образом, называется </a:t>
            </a:r>
            <a:r>
              <a:rPr lang="ru" sz="1400" b="1" i="1" dirty="0">
                <a:solidFill>
                  <a:srgbClr val="1B5E20"/>
                </a:solidFill>
              </a:rPr>
              <a:t>безопасным в отношении потоков</a:t>
            </a:r>
            <a:r>
              <a:rPr lang="ru" sz="1400" dirty="0">
                <a:solidFill>
                  <a:srgbClr val="000000"/>
                </a:solidFill>
              </a:rPr>
              <a:t> (thread-safe).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36713" y="230944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Инструкция cmpxchg (Compare and Exchange)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Блокировка и безопасность потоков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699458" y="712261"/>
            <a:ext cx="7677376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Синтаксис: </a:t>
            </a:r>
            <a:r>
              <a:rPr lang="ru" sz="1400" b="1" dirty="0">
                <a:solidFill>
                  <a:srgbClr val="0D47A1"/>
                </a:solidFill>
              </a:rPr>
              <a:t>lock cmpxchg [dest], src</a:t>
            </a:r>
            <a:r>
              <a:rPr lang="ru" sz="1400" dirty="0">
                <a:solidFill>
                  <a:srgbClr val="000000"/>
                </a:solidFill>
              </a:rPr>
              <a:t> — атомарная инструкция x86: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lock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cmpxchg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DWORD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PTR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[dest], src</a:t>
            </a:r>
            <a:br>
              <a:rPr lang="en-US" sz="1000" dirty="0">
                <a:solidFill>
                  <a:srgbClr val="000000"/>
                </a:solidFill>
                <a:latin typeface="Consolas"/>
                <a:cs typeface="Consolas"/>
              </a:rPr>
            </a:br>
            <a:br>
              <a:rPr lang="en-US" sz="10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Алгоритм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(атомарно):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1. Сравнить EAX с [dest]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2. Если равны:  [dest] = src,  ZF = 1  (успех)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3. Если нет:    EAX = [dest],  ZF = 0  (неудача)</a:t>
            </a:r>
          </a:p>
          <a:p>
            <a:pPr marL="449263" lvl="0" indent="-363538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ru" sz="1400" b="1" dirty="0">
                <a:solidFill>
                  <a:srgbClr val="0D47A1"/>
                </a:solidFill>
              </a:rPr>
              <a:t>ZF</a:t>
            </a:r>
            <a:r>
              <a:rPr lang="ru" sz="1400" dirty="0">
                <a:solidFill>
                  <a:srgbClr val="000000"/>
                </a:solidFill>
              </a:rPr>
              <a:t> (Zero Flag) — бит в регистре флагов </a:t>
            </a:r>
            <a:r>
              <a:rPr lang="ru" sz="1400" b="1" dirty="0">
                <a:solidFill>
                  <a:srgbClr val="0D47A1"/>
                </a:solidFill>
              </a:rPr>
              <a:t>EFLAGS</a:t>
            </a:r>
            <a:r>
              <a:rPr lang="ru" sz="1400" dirty="0">
                <a:solidFill>
                  <a:srgbClr val="000000"/>
                </a:solidFill>
              </a:rPr>
              <a:t>. Устанавливается в 1, если результат сравнения равен нулю (значения совпали).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Префикс </a:t>
            </a:r>
            <a:r>
              <a:rPr lang="ru" sz="1400" b="1" dirty="0">
                <a:solidFill>
                  <a:srgbClr val="0D47A1"/>
                </a:solidFill>
              </a:rPr>
              <a:t>lock</a:t>
            </a:r>
            <a:r>
              <a:rPr lang="ru" sz="1400" dirty="0">
                <a:solidFill>
                  <a:srgbClr val="000000"/>
                </a:solidFill>
              </a:rPr>
              <a:t> блокирует шину памяти, обеспечивая атомарность на многоядерных процессорах.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В C# доступна через </a:t>
            </a:r>
            <a:r>
              <a:rPr lang="ru" sz="1400" b="1" dirty="0">
                <a:solidFill>
                  <a:srgbClr val="0D47A1"/>
                </a:solidFill>
              </a:rPr>
              <a:t>Interlocked.CompareExchange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449263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Interlocked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.CompareExchange(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ref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location, newValue, expected);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Компилируется в: lock cmpxchg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Применение в </a:t>
            </a:r>
            <a:r>
              <a:rPr lang="ru" sz="1400" b="1" dirty="0">
                <a:solidFill>
                  <a:srgbClr val="0D47A1"/>
                </a:solidFill>
              </a:rPr>
              <a:t>lock</a:t>
            </a:r>
            <a:r>
              <a:rPr lang="ru" sz="1400" dirty="0">
                <a:solidFill>
                  <a:srgbClr val="000000"/>
                </a:solidFill>
              </a:rPr>
              <a:t>: CLR кладёт в EAX «свободно», а в src — ID потока. </a:t>
            </a:r>
            <a:br>
              <a:rPr lang="ru" sz="1400" dirty="0">
                <a:solidFill>
                  <a:srgbClr val="000000"/>
                </a:solidFill>
              </a:rPr>
            </a:br>
            <a:r>
              <a:rPr lang="ru" sz="1400" dirty="0">
                <a:solidFill>
                  <a:srgbClr val="000000"/>
                </a:solidFill>
              </a:rPr>
              <a:t>CAS успешен → блокировка захвачена. Неудача → spinning → ядро ОС.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36713" y="230944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Передача данных потоку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Передача данных потоку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05728" y="704512"/>
            <a:ext cx="8165573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Проще всего передать аргументы начальному методу потока с помощью </a:t>
            </a:r>
            <a:r>
              <a:rPr lang="ru" sz="1400" b="1" i="1" dirty="0">
                <a:solidFill>
                  <a:srgbClr val="1B5E20"/>
                </a:solidFill>
              </a:rPr>
              <a:t>лямбда-выражения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 =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 () =&gt; Print (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"Hello from t!"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 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t.Start();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Print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message) =&gt;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.WriteLine (message);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Такой подход позволяет передавать методу </a:t>
            </a:r>
            <a:r>
              <a:rPr lang="ru" sz="1400" b="1" dirty="0">
                <a:solidFill>
                  <a:srgbClr val="000000"/>
                </a:solidFill>
              </a:rPr>
              <a:t>любое количество аргументов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Можно поместить всю реализацию в лямбда-функцию с множеством операторов: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(() =&gt;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.WriteLine (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"I'm running on another thread!"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.WriteLine (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"This is so easy!"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}).Start();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Альтернативный (менее гибкий) приём — передача аргумента методу </a:t>
            </a:r>
            <a:r>
              <a:rPr lang="ru" sz="1400" b="1" dirty="0">
                <a:solidFill>
                  <a:srgbClr val="0D47A1"/>
                </a:solidFill>
              </a:rPr>
              <a:t>Start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 =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(Print);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t.Start (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"Hello from t!"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Передача данных потоку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05729" y="448790"/>
            <a:ext cx="8055000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При передаче через </a:t>
            </a:r>
            <a:r>
              <a:rPr lang="ru" sz="1400" b="1" dirty="0">
                <a:solidFill>
                  <a:srgbClr val="0D47A1"/>
                </a:solidFill>
              </a:rPr>
              <a:t>Start</a:t>
            </a:r>
            <a:r>
              <a:rPr lang="ru" sz="1400" dirty="0">
                <a:solidFill>
                  <a:srgbClr val="000000"/>
                </a:solidFill>
              </a:rPr>
              <a:t> метод потока принимает </a:t>
            </a:r>
            <a:r>
              <a:rPr lang="ru" sz="1400" b="1" dirty="0">
                <a:solidFill>
                  <a:srgbClr val="0D47A1"/>
                </a:solidFill>
              </a:rPr>
              <a:t>object</a:t>
            </a:r>
            <a:r>
              <a:rPr lang="ru" sz="1400" dirty="0">
                <a:solidFill>
                  <a:srgbClr val="000000"/>
                </a:solidFill>
              </a:rPr>
              <a:t>, что требует приведения: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Print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messageObj)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message =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) messageObj;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Приведение типа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.WriteLine (message);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Код работает, т.к. конструктор </a:t>
            </a:r>
            <a:r>
              <a:rPr lang="ru" sz="1400" b="1" dirty="0">
                <a:solidFill>
                  <a:srgbClr val="0D47A1"/>
                </a:solidFill>
              </a:rPr>
              <a:t>Thread</a:t>
            </a:r>
            <a:r>
              <a:rPr lang="ru" sz="1400" dirty="0">
                <a:solidFill>
                  <a:srgbClr val="000000"/>
                </a:solidFill>
              </a:rPr>
              <a:t> перегружен для приёма одного из двух делегатов: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delegate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ThreadStart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();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delegate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ParameterizedThreadStart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obj);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Ограничение </a:t>
            </a:r>
            <a:r>
              <a:rPr lang="ru" sz="1400" b="1" dirty="0">
                <a:solidFill>
                  <a:srgbClr val="0D47A1"/>
                </a:solidFill>
              </a:rPr>
              <a:t>ParameterizedThreadStart</a:t>
            </a:r>
            <a:r>
              <a:rPr lang="ru" sz="1400" dirty="0">
                <a:solidFill>
                  <a:srgbClr val="000000"/>
                </a:solidFill>
              </a:rPr>
              <a:t>: принимает только </a:t>
            </a:r>
            <a:r>
              <a:rPr lang="ru" sz="1400" b="1" dirty="0">
                <a:solidFill>
                  <a:srgbClr val="000000"/>
                </a:solidFill>
              </a:rPr>
              <a:t>один аргумент</a:t>
            </a:r>
            <a:r>
              <a:rPr lang="ru" sz="1400" dirty="0">
                <a:solidFill>
                  <a:srgbClr val="000000"/>
                </a:solidFill>
              </a:rPr>
              <a:t> типа </a:t>
            </a:r>
            <a:r>
              <a:rPr lang="ru" sz="1400" b="1" dirty="0">
                <a:solidFill>
                  <a:srgbClr val="0D47A1"/>
                </a:solidFill>
              </a:rPr>
              <a:t>object</a:t>
            </a:r>
            <a:r>
              <a:rPr lang="ru" sz="1400" dirty="0">
                <a:solidFill>
                  <a:srgbClr val="000000"/>
                </a:solidFill>
              </a:rPr>
              <a:t>, не обеспечивает типобезопасность.</a:t>
            </a:r>
          </a:p>
          <a:p>
            <a:pPr marL="0" lvl="0" indent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400" b="1" dirty="0">
                <a:solidFill>
                  <a:srgbClr val="000000"/>
                </a:solidFill>
              </a:rPr>
              <a:t>Сравнение подходов:</a:t>
            </a:r>
          </a:p>
          <a:p>
            <a:pPr marL="457200" lvl="0" indent="-3556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Лямбда-выражение</a:t>
            </a:r>
            <a:r>
              <a:rPr lang="ru" sz="1400" dirty="0">
                <a:solidFill>
                  <a:srgbClr val="000000"/>
                </a:solidFill>
              </a:rPr>
              <a:t> — гибко, любое количество типизированных аргументов, вся логика встраивается.</a:t>
            </a:r>
          </a:p>
          <a:p>
            <a:pPr marL="457200" lvl="0" indent="-3556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b="1" dirty="0">
                <a:solidFill>
                  <a:srgbClr val="000000"/>
                </a:solidFill>
              </a:rPr>
              <a:t>Thread.Start(object)</a:t>
            </a:r>
            <a:r>
              <a:rPr lang="ru" sz="1400" dirty="0">
                <a:solidFill>
                  <a:srgbClr val="000000"/>
                </a:solidFill>
              </a:rPr>
              <a:t> — менее гибко, один аргумент типа </a:t>
            </a:r>
            <a:r>
              <a:rPr lang="ru" sz="1400" b="1" dirty="0">
                <a:solidFill>
                  <a:srgbClr val="0D47A1"/>
                </a:solidFill>
              </a:rPr>
              <a:t>object</a:t>
            </a:r>
            <a:r>
              <a:rPr lang="ru" sz="1400" dirty="0">
                <a:solidFill>
                  <a:srgbClr val="000000"/>
                </a:solidFill>
              </a:rPr>
              <a:t>, требует приведения.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Передача данных потоку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13479" y="402296"/>
            <a:ext cx="8055000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Следует соблюдать осторожность, чтобы случайно не изменить </a:t>
            </a:r>
            <a:r>
              <a:rPr lang="ru" sz="1400" b="1" i="1" dirty="0">
                <a:solidFill>
                  <a:srgbClr val="1B5E20"/>
                </a:solidFill>
              </a:rPr>
              <a:t>захваченные переменные</a:t>
            </a:r>
            <a:r>
              <a:rPr lang="ru" sz="1400" dirty="0">
                <a:solidFill>
                  <a:srgbClr val="000000"/>
                </a:solidFill>
              </a:rPr>
              <a:t> после запуска потока: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i = 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i &lt; 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i++)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(() =&gt;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 (i)).Start();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Вывод будет </a:t>
            </a:r>
            <a:r>
              <a:rPr lang="ru" sz="1400" b="1" dirty="0">
                <a:solidFill>
                  <a:srgbClr val="1B5E20"/>
                </a:solidFill>
              </a:rPr>
              <a:t>недетерминированным</a:t>
            </a:r>
            <a:r>
              <a:rPr lang="ru" sz="1400" dirty="0">
                <a:solidFill>
                  <a:srgbClr val="000000"/>
                </a:solidFill>
              </a:rPr>
              <a:t>! Типичный результат: </a:t>
            </a:r>
            <a:r>
              <a:rPr lang="ru" sz="1400" b="1" dirty="0">
                <a:solidFill>
                  <a:srgbClr val="0D47A1"/>
                </a:solidFill>
              </a:rPr>
              <a:t>0223557799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Проблема: на протяжении всего цикла переменная </a:t>
            </a:r>
            <a:r>
              <a:rPr lang="ru" sz="1400" b="1" dirty="0">
                <a:solidFill>
                  <a:srgbClr val="0D47A1"/>
                </a:solidFill>
              </a:rPr>
              <a:t>i</a:t>
            </a:r>
            <a:r>
              <a:rPr lang="ru" sz="1400" dirty="0">
                <a:solidFill>
                  <a:srgbClr val="000000"/>
                </a:solidFill>
              </a:rPr>
              <a:t> ссылается на </a:t>
            </a:r>
            <a:r>
              <a:rPr lang="ru" sz="1400" i="1" dirty="0">
                <a:solidFill>
                  <a:srgbClr val="000000"/>
                </a:solidFill>
              </a:rPr>
              <a:t>ту же самую</a:t>
            </a:r>
            <a:r>
              <a:rPr lang="ru" sz="1400" dirty="0">
                <a:solidFill>
                  <a:srgbClr val="000000"/>
                </a:solidFill>
              </a:rPr>
              <a:t> ячейку памяти. Каждый поток вызывает </a:t>
            </a:r>
            <a:r>
              <a:rPr lang="ru" sz="1400" b="1" dirty="0">
                <a:solidFill>
                  <a:srgbClr val="0D47A1"/>
                </a:solidFill>
              </a:rPr>
              <a:t>Console.Write</a:t>
            </a:r>
            <a:r>
              <a:rPr lang="ru" sz="1400" dirty="0">
                <a:solidFill>
                  <a:srgbClr val="000000"/>
                </a:solidFill>
              </a:rPr>
              <a:t> с переменной, значение которой может измениться!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Решение — применение </a:t>
            </a:r>
            <a:r>
              <a:rPr lang="ru" sz="1400" b="1" i="1" dirty="0">
                <a:solidFill>
                  <a:srgbClr val="1B5E20"/>
                </a:solidFill>
              </a:rPr>
              <a:t>временной переменной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i = 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i &lt; </a:t>
            </a:r>
            <a:r>
              <a:rPr lang="en-US" sz="1200" dirty="0">
                <a:solidFill>
                  <a:srgbClr val="09885A"/>
                </a:solidFill>
                <a:latin typeface="Consolas"/>
                <a:cs typeface="Consolas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i++)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temp = i;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(() =&gt;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 (temp)).Start();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457200" lvl="0" indent="-3556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Теперь все цифры от 0 до 9 выводятся </a:t>
            </a:r>
            <a:r>
              <a:rPr lang="ru" sz="1400" b="1" dirty="0">
                <a:solidFill>
                  <a:srgbClr val="000000"/>
                </a:solidFill>
              </a:rPr>
              <a:t>в точности по одному разу</a:t>
            </a:r>
            <a:r>
              <a:rPr lang="ru" sz="1400" dirty="0">
                <a:solidFill>
                  <a:srgbClr val="000000"/>
                </a:solidFill>
              </a:rPr>
              <a:t>. Переменная </a:t>
            </a:r>
            <a:r>
              <a:rPr lang="ru" sz="1400" b="1" dirty="0">
                <a:solidFill>
                  <a:srgbClr val="0D47A1"/>
                </a:solidFill>
              </a:rPr>
              <a:t>temp</a:t>
            </a:r>
            <a:r>
              <a:rPr lang="ru" sz="1400" dirty="0">
                <a:solidFill>
                  <a:srgbClr val="000000"/>
                </a:solidFill>
              </a:rPr>
              <a:t> локальна для каждой итерации, поэтому каждый поток захватывает отличающуюся ячейку памяти.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Передача данных потоку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05729" y="704512"/>
            <a:ext cx="8055000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Проблему с захваченными переменными проще проиллюстрировать так: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text = 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"t1"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t1 =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 () =&gt;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.WriteLine (text) 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text = </a:t>
            </a:r>
            <a:r>
              <a:rPr lang="en-US" sz="1200" dirty="0">
                <a:solidFill>
                  <a:srgbClr val="A31515"/>
                </a:solidFill>
                <a:latin typeface="Consolas"/>
                <a:cs typeface="Consolas"/>
              </a:rPr>
              <a:t>"t2"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t2 =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 () =&gt;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.WriteLine (text) 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t1.Start(); t2.Start();</a:t>
            </a:r>
          </a:p>
          <a:p>
            <a:pPr marL="449263" lvl="0" indent="-347663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Оба лямбда-выражения захватывают </a:t>
            </a:r>
            <a:r>
              <a:rPr lang="ru" sz="1400" b="1" i="1" dirty="0">
                <a:solidFill>
                  <a:srgbClr val="1B5E20"/>
                </a:solidFill>
              </a:rPr>
              <a:t>одну и ту же</a:t>
            </a:r>
            <a:r>
              <a:rPr lang="ru" sz="1400" dirty="0">
                <a:solidFill>
                  <a:srgbClr val="000000"/>
                </a:solidFill>
              </a:rPr>
              <a:t> переменную </a:t>
            </a:r>
            <a:r>
              <a:rPr lang="ru" sz="1400" b="1" dirty="0">
                <a:solidFill>
                  <a:srgbClr val="0D47A1"/>
                </a:solidFill>
              </a:rPr>
              <a:t>text</a:t>
            </a:r>
            <a:r>
              <a:rPr lang="ru" sz="1400" dirty="0">
                <a:solidFill>
                  <a:srgbClr val="000000"/>
                </a:solidFill>
              </a:rPr>
              <a:t>. К моменту вызова </a:t>
            </a:r>
            <a:r>
              <a:rPr lang="ru" sz="1400" b="1" dirty="0">
                <a:solidFill>
                  <a:srgbClr val="0D47A1"/>
                </a:solidFill>
              </a:rPr>
              <a:t>Start()</a:t>
            </a:r>
            <a:r>
              <a:rPr lang="ru" sz="1400" dirty="0">
                <a:solidFill>
                  <a:srgbClr val="000000"/>
                </a:solidFill>
              </a:rPr>
              <a:t> значение уже изменено на </a:t>
            </a:r>
            <a:r>
              <a:rPr lang="ru" sz="1400" b="1" dirty="0">
                <a:solidFill>
                  <a:srgbClr val="0D47A1"/>
                </a:solidFill>
              </a:rPr>
              <a:t>"t2"</a:t>
            </a:r>
            <a:r>
              <a:rPr lang="ru" sz="1400" dirty="0">
                <a:solidFill>
                  <a:srgbClr val="000000"/>
                </a:solidFill>
              </a:rPr>
              <a:t>, поэтому строка "t2" выводится </a:t>
            </a:r>
            <a:r>
              <a:rPr lang="ru" sz="1400" b="1" dirty="0">
                <a:solidFill>
                  <a:srgbClr val="1B5E20"/>
                </a:solidFill>
              </a:rPr>
              <a:t>дважды</a:t>
            </a:r>
            <a:r>
              <a:rPr lang="ru" sz="1400" dirty="0">
                <a:solidFill>
                  <a:srgbClr val="000000"/>
                </a:solidFill>
              </a:rPr>
              <a:t>.</a:t>
            </a:r>
          </a:p>
          <a:p>
            <a:pPr marL="0" lvl="0" indent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br>
              <a:rPr lang="ru" sz="1400" b="1" dirty="0">
                <a:solidFill>
                  <a:srgbClr val="000000"/>
                </a:solidFill>
              </a:rPr>
            </a:br>
            <a:r>
              <a:rPr lang="ru" sz="1400" b="1" dirty="0">
                <a:solidFill>
                  <a:srgbClr val="000000"/>
                </a:solidFill>
              </a:rPr>
              <a:t>Ключевые выводы:</a:t>
            </a:r>
          </a:p>
          <a:p>
            <a:pPr marL="457200" lvl="0" indent="-355600" algn="just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dirty="0">
                <a:solidFill>
                  <a:srgbClr val="000000"/>
                </a:solidFill>
              </a:rPr>
              <a:t>Лямбда-выражение — наиболее удобный и мощный способ передачи данных потоку.</a:t>
            </a:r>
          </a:p>
          <a:p>
            <a:pPr marL="457200" lvl="0" indent="-355600" algn="just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dirty="0">
                <a:solidFill>
                  <a:srgbClr val="000000"/>
                </a:solidFill>
              </a:rPr>
              <a:t>Не изменяйте захваченные переменные после запуска потока!</a:t>
            </a:r>
          </a:p>
          <a:p>
            <a:pPr marL="457200" lvl="0" indent="-355600" algn="just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ru" sz="1400" dirty="0">
                <a:solidFill>
                  <a:srgbClr val="000000"/>
                </a:solidFill>
              </a:rPr>
              <a:t>Используйте </a:t>
            </a:r>
            <a:r>
              <a:rPr lang="ru" sz="1400" b="1" dirty="0">
                <a:solidFill>
                  <a:srgbClr val="000000"/>
                </a:solidFill>
              </a:rPr>
              <a:t>локальную копию</a:t>
            </a:r>
            <a:r>
              <a:rPr lang="ru" sz="1400" dirty="0">
                <a:solidFill>
                  <a:srgbClr val="000000"/>
                </a:solidFill>
              </a:rPr>
              <a:t> (</a:t>
            </a:r>
            <a:r>
              <a:rPr lang="ru" sz="1400" b="1" dirty="0">
                <a:solidFill>
                  <a:srgbClr val="0D47A1"/>
                </a:solidFill>
              </a:rPr>
              <a:t>int temp = i</a:t>
            </a:r>
            <a:r>
              <a:rPr lang="ru" sz="1400" dirty="0">
                <a:solidFill>
                  <a:srgbClr val="000000"/>
                </a:solidFill>
              </a:rPr>
              <a:t>) для безопасного захвата в циклах.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05716" y="184449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Обработка исключений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Обработка исключений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44475" y="596023"/>
            <a:ext cx="8055000" cy="3805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Блоки </a:t>
            </a:r>
            <a:r>
              <a:rPr lang="ru" sz="1400" b="1" dirty="0">
                <a:solidFill>
                  <a:srgbClr val="0D47A1"/>
                </a:solidFill>
              </a:rPr>
              <a:t>try/catch/finally</a:t>
            </a:r>
            <a:r>
              <a:rPr lang="ru" sz="1400" dirty="0">
                <a:solidFill>
                  <a:srgbClr val="000000"/>
                </a:solidFill>
              </a:rPr>
              <a:t>, действующие во время создания потока, </a:t>
            </a:r>
            <a:r>
              <a:rPr lang="ru" sz="1400" b="1" i="1" dirty="0">
                <a:solidFill>
                  <a:srgbClr val="1B5E20"/>
                </a:solidFill>
              </a:rPr>
              <a:t>не играют никакой роли</a:t>
            </a:r>
            <a:r>
              <a:rPr lang="ru" sz="1400" dirty="0">
                <a:solidFill>
                  <a:srgbClr val="000000"/>
                </a:solidFill>
              </a:rPr>
              <a:t> в потоке, когда он начинает выполнение: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try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(Go).Start();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catch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100" dirty="0">
                <a:solidFill>
                  <a:srgbClr val="2B91AF"/>
                </a:solidFill>
                <a:latin typeface="Consolas"/>
                <a:cs typeface="Consolas"/>
              </a:rPr>
              <a:t>Exception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ex) {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100" dirty="0">
                <a:solidFill>
                  <a:srgbClr val="008000"/>
                </a:solidFill>
                <a:latin typeface="Consolas"/>
                <a:cs typeface="Consolas"/>
              </a:rPr>
              <a:t>// Сюда мы никогда не попадём!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  <a:b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Go() {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throw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onsolas"/>
              </a:rPr>
              <a:t>; } </a:t>
            </a:r>
            <a:r>
              <a:rPr lang="en-US" sz="1100" dirty="0">
                <a:solidFill>
                  <a:srgbClr val="008000"/>
                </a:solidFill>
                <a:latin typeface="Consolas"/>
                <a:cs typeface="Consolas"/>
              </a:rPr>
              <a:t>// NullReferenceException</a:t>
            </a:r>
          </a:p>
          <a:p>
            <a:pPr marL="387350" lvl="0" indent="-285750" algn="just">
              <a:spcBef>
                <a:spcPts val="400"/>
              </a:spcBef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Причина: каждый поток имеет </a:t>
            </a:r>
            <a:r>
              <a:rPr lang="ru" sz="1400" b="1" dirty="0">
                <a:solidFill>
                  <a:srgbClr val="1B5E20"/>
                </a:solidFill>
              </a:rPr>
              <a:t>собственный стек вызовов</a:t>
            </a:r>
            <a:r>
              <a:rPr lang="ru" sz="1400" dirty="0">
                <a:solidFill>
                  <a:srgbClr val="000000"/>
                </a:solidFill>
              </a:rPr>
              <a:t>. </a:t>
            </a:r>
            <a:r>
              <a:rPr lang="ru-RU" sz="1400" dirty="0">
                <a:solidFill>
                  <a:srgbClr val="000000"/>
                </a:solidFill>
              </a:rPr>
              <a:t>Механизм раскрутки исключений (</a:t>
            </a:r>
            <a:r>
              <a:rPr lang="ru-RU" sz="1400" i="1" dirty="0" err="1">
                <a:solidFill>
                  <a:srgbClr val="000000"/>
                </a:solidFill>
              </a:rPr>
              <a:t>exception</a:t>
            </a:r>
            <a:r>
              <a:rPr lang="ru-RU" sz="1400" i="1" dirty="0">
                <a:solidFill>
                  <a:srgbClr val="000000"/>
                </a:solidFill>
              </a:rPr>
              <a:t> </a:t>
            </a:r>
            <a:r>
              <a:rPr lang="ru-RU" sz="1400" i="1" dirty="0" err="1">
                <a:solidFill>
                  <a:srgbClr val="000000"/>
                </a:solidFill>
              </a:rPr>
              <a:t>unwinding</a:t>
            </a:r>
            <a:r>
              <a:rPr lang="ru-RU" sz="1400" dirty="0">
                <a:solidFill>
                  <a:srgbClr val="000000"/>
                </a:solidFill>
              </a:rPr>
              <a:t>) ищет подходящий </a:t>
            </a:r>
            <a:r>
              <a:rPr lang="ru-RU" sz="1400" b="1" dirty="0" err="1">
                <a:solidFill>
                  <a:srgbClr val="0D47A1"/>
                </a:solidFill>
              </a:rPr>
              <a:t>catch</a:t>
            </a:r>
            <a:r>
              <a:rPr lang="ru-RU" sz="1400" dirty="0">
                <a:solidFill>
                  <a:srgbClr val="000000"/>
                </a:solidFill>
              </a:rPr>
              <a:t> только вверх по текущему стеку — он не может перепрыгнуть в стек другого потока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357188" lvl="0">
              <a:spcBef>
                <a:spcPts val="100"/>
              </a:spcBef>
            </a:pP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Главный поток (стек):         Новый поток (стек):</a:t>
            </a:r>
            <a:b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┌─────────────────┐           ┌─────────────────┐</a:t>
            </a:r>
            <a:b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│ </a:t>
            </a:r>
            <a: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  <a:t>Main()          │           │ Go()            │</a:t>
            </a:r>
            <a:b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  <a:t>│   try {         │           │   throw null; ──┼── </a:t>
            </a: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ищет </a:t>
            </a:r>
            <a: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  <a:t>catch </a:t>
            </a: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ЗДЕСЬ</a:t>
            </a:r>
            <a:b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│     .</a:t>
            </a:r>
            <a: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  <a:t>Start() ───┼──</a:t>
            </a: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создал──&gt;│                 │   ↑ вверх по стеку</a:t>
            </a:r>
            <a:b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│   }             │           │ (стек пуст)     │   не нашёл → крах</a:t>
            </a:r>
            <a:b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│   </a:t>
            </a:r>
            <a: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  <a:t>catch { ... } │           └─────────────────┘</a:t>
            </a:r>
            <a:b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050" dirty="0">
                <a:solidFill>
                  <a:srgbClr val="000000"/>
                </a:solidFill>
                <a:latin typeface="Consolas"/>
                <a:cs typeface="Consolas"/>
              </a:rPr>
              <a:t>│   //</a:t>
            </a: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не сработает│</a:t>
            </a:r>
            <a:b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ru-RU" sz="1050" dirty="0">
                <a:solidFill>
                  <a:srgbClr val="000000"/>
                </a:solidFill>
                <a:latin typeface="Consolas"/>
                <a:cs typeface="Consolas"/>
              </a:rPr>
              <a:t>└─────────────────┘</a:t>
            </a:r>
            <a:endParaRPr lang="en-US" sz="105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Обработка исключений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714956" y="363550"/>
            <a:ext cx="7630881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Обработчик необходимо переместить </a:t>
            </a:r>
            <a:r>
              <a:rPr lang="ru" sz="1400" b="1" i="1" dirty="0">
                <a:solidFill>
                  <a:srgbClr val="1B5E20"/>
                </a:solidFill>
              </a:rPr>
              <a:t>внутрь метода потока</a:t>
            </a:r>
            <a:r>
              <a:rPr lang="ru" sz="1400" dirty="0">
                <a:solidFill>
                  <a:srgbClr val="000000"/>
                </a:solidFill>
              </a:rPr>
              <a:t>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Thread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(Go).Start();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Go() 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try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...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throw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;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NullReferenceException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перехвачено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ниже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...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onsolas"/>
                <a:cs typeface="Consolas"/>
              </a:rPr>
              <a:t>catch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Exception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ex) {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Зарегистрировать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исключение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в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журнале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и/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или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сигнализировать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другому</a:t>
            </a: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Consolas"/>
                <a:cs typeface="Consolas"/>
              </a:rPr>
              <a:t>потоку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  }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387350" lvl="0" indent="-28575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В производственных приложениях необходимо предусмотреть обработчики исключений для </a:t>
            </a:r>
            <a:r>
              <a:rPr lang="ru" sz="1400" b="1" dirty="0">
                <a:solidFill>
                  <a:srgbClr val="000000"/>
                </a:solidFill>
              </a:rPr>
              <a:t>всех методов входа в потоки</a:t>
            </a:r>
            <a:r>
              <a:rPr lang="ru" sz="1400" dirty="0">
                <a:solidFill>
                  <a:srgbClr val="000000"/>
                </a:solidFill>
              </a:rPr>
              <a:t> — в точности как в главном потоке.</a:t>
            </a:r>
          </a:p>
          <a:p>
            <a:pPr marL="387350" lvl="0" indent="-28575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Необработанное исключение приведёт к </a:t>
            </a:r>
            <a:r>
              <a:rPr lang="ru" sz="1400" b="1" dirty="0">
                <a:solidFill>
                  <a:srgbClr val="1B5E20"/>
                </a:solidFill>
              </a:rPr>
              <a:t>прекращению работы всего приложения</a:t>
            </a:r>
            <a:r>
              <a:rPr lang="ru" sz="1400" dirty="0">
                <a:solidFill>
                  <a:srgbClr val="000000"/>
                </a:solidFill>
              </a:rPr>
              <a:t>!</a:t>
            </a:r>
          </a:p>
          <a:p>
            <a:pPr marL="387350" lvl="0" indent="-28575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Обычно в </a:t>
            </a:r>
            <a:r>
              <a:rPr lang="ru" sz="1400" b="1" dirty="0">
                <a:solidFill>
                  <a:srgbClr val="0D47A1"/>
                </a:solidFill>
              </a:rPr>
              <a:t>catch</a:t>
            </a:r>
            <a:r>
              <a:rPr lang="ru" sz="1400" dirty="0">
                <a:solidFill>
                  <a:srgbClr val="000000"/>
                </a:solidFill>
              </a:rPr>
              <a:t> регистрируют исключение в журнале и/или перезапускают приложение.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/>
          </p:nvPr>
        </p:nvSpPr>
        <p:spPr>
          <a:xfrm>
            <a:off x="536713" y="230944"/>
            <a:ext cx="80550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</a:rPr>
              <a:t>Централизованная обработка исключений</a:t>
            </a:r>
          </a:p>
        </p:txBody>
      </p:sp>
      <p:cxnSp>
        <p:nvCxnSpPr>
          <p:cNvPr id="137" name="Line"/>
          <p:cNvCxnSpPr/>
          <p:nvPr/>
        </p:nvCxnSpPr>
        <p:spPr>
          <a:xfrm rot="10800000" flipH="1">
            <a:off x="239584" y="4541268"/>
            <a:ext cx="86493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Footer"/>
          <p:cNvSpPr txBox="1">
            <a:spLocks noGrp="1"/>
          </p:cNvSpPr>
          <p:nvPr>
            <p:ph type="title"/>
          </p:nvPr>
        </p:nvSpPr>
        <p:spPr>
          <a:xfrm>
            <a:off x="239575" y="4543675"/>
            <a:ext cx="745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1400" dirty="0">
                <a:solidFill>
                  <a:srgbClr val="000000"/>
                </a:solidFill>
              </a:rPr>
              <a:t>Многопоточная обработка | </a:t>
            </a:r>
            <a:r>
              <a:rPr lang="ru-RU" sz="1400" dirty="0">
                <a:solidFill>
                  <a:srgbClr val="000000"/>
                </a:solidFill>
              </a:rPr>
              <a:t>Обработка исключений</a:t>
            </a:r>
            <a:endParaRPr lang="ru" sz="1400" dirty="0">
              <a:solidFill>
                <a:srgbClr val="000000"/>
              </a:solidFill>
            </a:endParaRPr>
          </a:p>
        </p:txBody>
      </p:sp>
      <p:sp>
        <p:nvSpPr>
          <p:cNvPr id="139" name="Body"/>
          <p:cNvSpPr txBox="1">
            <a:spLocks noGrp="1"/>
          </p:cNvSpPr>
          <p:nvPr>
            <p:ph type="title"/>
          </p:nvPr>
        </p:nvSpPr>
        <p:spPr>
          <a:xfrm>
            <a:off x="505729" y="743258"/>
            <a:ext cx="8055000" cy="3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rgbClr val="000000"/>
                </a:solidFill>
              </a:rPr>
              <a:t>В приложениях WPF, UWP и Windows Forms можно подписаться на «глобальные» события обработки исключений:</a:t>
            </a:r>
          </a:p>
          <a:p>
            <a:pPr marL="85725" lv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WPF: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Application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.DispatcherUnhandledException += ...;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008000"/>
                </a:solidFill>
                <a:latin typeface="Consolas"/>
                <a:cs typeface="Consolas"/>
              </a:rPr>
              <a:t>// Windows Forms:</a:t>
            </a:r>
            <a:b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</a:br>
            <a:r>
              <a:rPr lang="en-US" sz="1200" dirty="0">
                <a:solidFill>
                  <a:srgbClr val="2B91AF"/>
                </a:solidFill>
                <a:latin typeface="Consolas"/>
                <a:cs typeface="Consolas"/>
              </a:rPr>
              <a:t>Application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.ThreadException += ...;</a:t>
            </a:r>
          </a:p>
          <a:p>
            <a:pPr marL="387350" lvl="0" indent="-28575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Эти события инициируются после возникновения необработанного исключения в любой части программы, вызванной в </a:t>
            </a:r>
            <a:r>
              <a:rPr lang="ru" sz="1400" b="1" i="1" dirty="0">
                <a:solidFill>
                  <a:srgbClr val="1B5E20"/>
                </a:solidFill>
              </a:rPr>
              <a:t>цикле сообщений</a:t>
            </a:r>
            <a:r>
              <a:rPr lang="ru" sz="1400" dirty="0">
                <a:solidFill>
                  <a:srgbClr val="000000"/>
                </a:solidFill>
              </a:rPr>
              <a:t> (весь код в главном потоке, пока активен </a:t>
            </a:r>
            <a:r>
              <a:rPr lang="ru" sz="1400" b="1" dirty="0">
                <a:solidFill>
                  <a:srgbClr val="0D47A1"/>
                </a:solidFill>
              </a:rPr>
              <a:t>Application</a:t>
            </a:r>
            <a:r>
              <a:rPr lang="ru" sz="1400" dirty="0">
                <a:solidFill>
                  <a:srgbClr val="000000"/>
                </a:solidFill>
              </a:rPr>
              <a:t>).</a:t>
            </a:r>
          </a:p>
          <a:p>
            <a:pPr marL="387350" lvl="0" indent="-28575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Полезны как </a:t>
            </a:r>
            <a:r>
              <a:rPr lang="ru" sz="1400" b="1" dirty="0">
                <a:solidFill>
                  <a:srgbClr val="000000"/>
                </a:solidFill>
              </a:rPr>
              <a:t>резервное средство</a:t>
            </a:r>
            <a:r>
              <a:rPr lang="ru" sz="1400" dirty="0">
                <a:solidFill>
                  <a:srgbClr val="000000"/>
                </a:solidFill>
              </a:rPr>
              <a:t> для регистрации и сообщения об ошибках.</a:t>
            </a:r>
          </a:p>
          <a:p>
            <a:pPr marL="387350" lvl="0" indent="-28575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Ограничение: </a:t>
            </a:r>
            <a:r>
              <a:rPr lang="ru" sz="1400" b="1" dirty="0">
                <a:solidFill>
                  <a:srgbClr val="1B5E20"/>
                </a:solidFill>
              </a:rPr>
              <a:t>неприменимы</a:t>
            </a:r>
            <a:r>
              <a:rPr lang="ru" sz="1400" dirty="0">
                <a:solidFill>
                  <a:srgbClr val="000000"/>
                </a:solidFill>
              </a:rPr>
              <a:t> для необработанных исключений в созданных вами потоках, не относящихся к UI.</a:t>
            </a:r>
          </a:p>
          <a:p>
            <a:pPr marL="387350" lvl="0" indent="-28575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400"/>
              <a:buFont typeface="Wingdings" panose="05000000000000000000" pitchFamily="2" charset="2"/>
              <a:buChar char="v"/>
            </a:pPr>
            <a:r>
              <a:rPr lang="ru" sz="1400" dirty="0">
                <a:solidFill>
                  <a:srgbClr val="000000"/>
                </a:solidFill>
              </a:rPr>
              <a:t>Обработка этих событий предотвращает аварийное завершение, но впоследствии может потребоваться </a:t>
            </a:r>
            <a:r>
              <a:rPr lang="ru" sz="1400" b="1" dirty="0">
                <a:solidFill>
                  <a:srgbClr val="000000"/>
                </a:solidFill>
              </a:rPr>
              <a:t>перезапуск приложения</a:t>
            </a:r>
            <a:r>
              <a:rPr lang="ru" sz="1400" dirty="0">
                <a:solidFill>
                  <a:srgbClr val="000000"/>
                </a:solidFill>
              </a:rPr>
              <a:t> во избежание разрушения состояния.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3106</Words>
  <Application>Microsoft Office PowerPoint</Application>
  <PresentationFormat>Экран (16:9)</PresentationFormat>
  <Paragraphs>167</Paragraphs>
  <Slides>23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Nunito Medium</vt:lpstr>
      <vt:lpstr>Arial</vt:lpstr>
      <vt:lpstr>Consolas</vt:lpstr>
      <vt:lpstr>Nunito</vt:lpstr>
      <vt:lpstr>Wingdings</vt:lpstr>
      <vt:lpstr>Calibri</vt:lpstr>
      <vt:lpstr>Nunito SemiBold</vt:lpstr>
      <vt:lpstr>Shift</vt:lpstr>
      <vt:lpstr>ПАРАЛЛЕЛИЗМ И АСИНХРОННОСТЬ В C# Тема: Многопоточная обработка</vt:lpstr>
      <vt:lpstr>Введение в курс «Параллелизм и асинхронность»</vt:lpstr>
      <vt:lpstr>Введение</vt:lpstr>
      <vt:lpstr>Создание потока</vt:lpstr>
      <vt:lpstr>Многопоточная обработка | Создание потока  </vt:lpstr>
      <vt:lpstr>Join и Sleep</vt:lpstr>
      <vt:lpstr>Блокирование</vt:lpstr>
      <vt:lpstr>ThreadState</vt:lpstr>
      <vt:lpstr>Интенсивный ввод-вывод или  интенсивные вычисления</vt:lpstr>
      <vt:lpstr>Блокирование или зацикливание</vt:lpstr>
      <vt:lpstr>Локальное или разделяемое состояние</vt:lpstr>
      <vt:lpstr>Многопоточная обработка | Локальное или разделяемое состояние</vt:lpstr>
      <vt:lpstr>Многопоточная обработка | Локальное или разделяемое состояние</vt:lpstr>
      <vt:lpstr>Блокировка и безопасность потоков</vt:lpstr>
      <vt:lpstr>Многопоточная обработка | Блокировка и безопасность потоков</vt:lpstr>
      <vt:lpstr>Инструкция cmpxchg (Compare and Exchange)</vt:lpstr>
      <vt:lpstr>Передача данных потоку</vt:lpstr>
      <vt:lpstr>Многопоточная обработка | Передача данных потоку</vt:lpstr>
      <vt:lpstr>Многопоточная обработка | Передача данных потоку</vt:lpstr>
      <vt:lpstr>Многопоточная обработка | Передача данных потоку</vt:lpstr>
      <vt:lpstr>Обработка исключений</vt:lpstr>
      <vt:lpstr>Многопоточная обработка | Обработка исключений</vt:lpstr>
      <vt:lpstr>Централизованная обработка исключений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Руслан Гибадуллин</dc:creator>
  <cp:lastModifiedBy>Руслан Гибадуллин</cp:lastModifiedBy>
  <cp:revision>14</cp:revision>
  <dcterms:modified xsi:type="dcterms:W3CDTF">2026-02-09T08:07:41Z</dcterms:modified>
</cp:coreProperties>
</file>